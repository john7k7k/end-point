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3455" autoAdjust="0"/>
  </p:normalViewPr>
  <p:slideViewPr>
    <p:cSldViewPr snapToGrid="0">
      <p:cViewPr varScale="1">
        <p:scale>
          <a:sx n="70" d="100"/>
          <a:sy n="70" d="100"/>
        </p:scale>
        <p:origin x="171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1.8105782857935133</c:v>
              </c:pt>
              <c:pt idx="2">
                <c:v>8.9413135127676089</c:v>
              </c:pt>
              <c:pt idx="3">
                <c:v>16.161316019326964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5A07-47FD-84A0-9E0CEE74A114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5A07-47FD-84A0-9E0CEE74A114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5A07-47FD-84A0-9E0CEE74A1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錯配率（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99.970833333333331</c:v>
              </c:pt>
              <c:pt idx="1">
                <c:v>98.052777777777749</c:v>
              </c:pt>
              <c:pt idx="2">
                <c:v>90.956944444444446</c:v>
              </c:pt>
              <c:pt idx="3">
                <c:v>83.186111111111117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1723-4CEA-A3EC-155B13A2885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80.029166666666669</c:v>
              </c:pt>
              <c:pt idx="1">
                <c:v>79.63055555555556</c:v>
              </c:pt>
              <c:pt idx="2">
                <c:v>77.295833333333334</c:v>
              </c:pt>
              <c:pt idx="3">
                <c:v>72.879166666666677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1723-4CEA-A3EC-155B13A2885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4"/>
              <c:pt idx="0">
                <c:v>0</c:v>
              </c:pt>
              <c:pt idx="1">
                <c:v>1</c:v>
              </c:pt>
              <c:pt idx="2">
                <c:v>5</c:v>
              </c:pt>
              <c:pt idx="3">
                <c:v>10</c:v>
              </c:pt>
            </c:numLit>
          </c:xVal>
          <c:yVal>
            <c:numLit>
              <c:formatCode>0.0</c:formatCode>
              <c:ptCount val="4"/>
              <c:pt idx="0">
                <c:v>73.577777777777797</c:v>
              </c:pt>
              <c:pt idx="1">
                <c:v>73.23888888888888</c:v>
              </c:pt>
              <c:pt idx="2">
                <c:v>71.38333333333334</c:v>
              </c:pt>
              <c:pt idx="3">
                <c:v>67.729166666666657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1723-4CEA-A3EC-155B13A288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覆蓋率（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每通道遺失率（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%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平均螺絲誤差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AE5-4D43-A0DB-8BDD4F8E7A5F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AE5-4D43-A0DB-8BDD4F8E7A5F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AE5-4D43-A0DB-8BDD4F8E7A5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6.1921352531738023</c:v>
              </c:pt>
              <c:pt idx="1">
                <c:v>6.9623202046906405</c:v>
              </c:pt>
              <c:pt idx="2">
                <c:v>5.5111478454619975</c:v>
              </c:pt>
            </c:numLit>
          </c:val>
          <c:extLst>
            <c:ext xmlns:c16="http://schemas.microsoft.com/office/drawing/2014/chart" uri="{C3380CC4-5D6E-409C-BE32-E72D297353CC}">
              <c16:uniqueId val="{00000006-2AE5-4D43-A0DB-8BDD4F8E7A5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有效更新率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E4D5-4B99-B92E-DE0C81C7C307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E4D5-4B99-B92E-DE0C81C7C307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E4D5-4B99-B92E-DE0C81C7C30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19.986666666666672</c:v>
              </c:pt>
              <c:pt idx="1">
                <c:v>9.2630555555555549</c:v>
              </c:pt>
              <c:pt idx="2">
                <c:v>9.2636111111111106</c:v>
              </c:pt>
            </c:numLit>
          </c:val>
          <c:extLst>
            <c:ext xmlns:c16="http://schemas.microsoft.com/office/drawing/2014/chart" uri="{C3380CC4-5D6E-409C-BE32-E72D297353CC}">
              <c16:uniqueId val="{00000006-E4D5-4B99-B92E-DE0C81C7C30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Hz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P95 延遲</c:v>
          </c:tx>
          <c:spPr>
            <a:solidFill>
              <a:srgbClr val="C25B24"/>
            </a:solidFill>
            <a:ln w="23813">
              <a:solidFill>
                <a:srgbClr val="C25B24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C25B24"/>
              </a:solidFill>
            </c:spPr>
            <c:extLst>
              <c:ext xmlns:c16="http://schemas.microsoft.com/office/drawing/2014/chart" uri="{C3380CC4-5D6E-409C-BE32-E72D297353CC}">
                <c16:uniqueId val="{00000001-2FD4-487C-B625-DD7D60005FD8}"/>
              </c:ext>
            </c:extLst>
          </c:dPt>
          <c:dPt>
            <c:idx val="1"/>
            <c:invertIfNegative val="0"/>
            <c:bubble3D val="0"/>
            <c:spPr>
              <a:solidFill>
                <a:srgbClr val="355C9A"/>
              </a:solidFill>
            </c:spPr>
            <c:extLst>
              <c:ext xmlns:c16="http://schemas.microsoft.com/office/drawing/2014/chart" uri="{C3380CC4-5D6E-409C-BE32-E72D297353CC}">
                <c16:uniqueId val="{00000003-2FD4-487C-B625-DD7D60005FD8}"/>
              </c:ext>
            </c:extLst>
          </c:dPt>
          <c:dPt>
            <c:idx val="2"/>
            <c:invertIfNegative val="0"/>
            <c:bubble3D val="0"/>
            <c:spPr>
              <a:solidFill>
                <a:srgbClr val="477A53"/>
              </a:solidFill>
            </c:spPr>
            <c:extLst>
              <c:ext xmlns:c16="http://schemas.microsoft.com/office/drawing/2014/chart" uri="{C3380CC4-5D6E-409C-BE32-E72D297353CC}">
                <c16:uniqueId val="{00000005-2FD4-487C-B625-DD7D60005FD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latin typeface="標楷體"/>
                    <a:ea typeface="標楷體"/>
                    <a:cs typeface="標楷體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A</c:v>
              </c:pt>
              <c:pt idx="1">
                <c:v>B</c:v>
              </c:pt>
              <c:pt idx="2">
                <c:v>C</c:v>
              </c:pt>
            </c:strLit>
          </c:cat>
          <c:val>
            <c:numLit>
              <c:formatCode>0.0</c:formatCode>
              <c:ptCount val="3"/>
              <c:pt idx="0">
                <c:v>64.396430479300321</c:v>
              </c:pt>
              <c:pt idx="1">
                <c:v>149.68686984952504</c:v>
              </c:pt>
              <c:pt idx="2">
                <c:v>149.71181915525341</c:v>
              </c:pt>
            </c:numLit>
          </c:val>
          <c:extLst>
            <c:ext xmlns:c16="http://schemas.microsoft.com/office/drawing/2014/chart" uri="{C3380CC4-5D6E-409C-BE32-E72D297353CC}">
              <c16:uniqueId val="{00000006-2FD4-487C-B625-DD7D60005FD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0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ms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0.34586239003112929</c:v>
              </c:pt>
              <c:pt idx="1">
                <c:v>1.1903157702179969</c:v>
              </c:pt>
              <c:pt idx="2">
                <c:v>1.5198041909716762</c:v>
              </c:pt>
              <c:pt idx="3">
                <c:v>1.7714740266490168</c:v>
              </c:pt>
              <c:pt idx="4">
                <c:v>1.9345745095995004</c:v>
              </c:pt>
              <c:pt idx="5">
                <c:v>2.0572972928082875</c:v>
              </c:pt>
              <c:pt idx="6">
                <c:v>2.1763642211959868</c:v>
              </c:pt>
              <c:pt idx="7">
                <c:v>2.3135735299172975</c:v>
              </c:pt>
              <c:pt idx="8">
                <c:v>2.4886881791510804</c:v>
              </c:pt>
              <c:pt idx="9">
                <c:v>2.6228059282919625</c:v>
              </c:pt>
              <c:pt idx="10">
                <c:v>2.694378263512887</c:v>
              </c:pt>
              <c:pt idx="11">
                <c:v>2.7715293601991213</c:v>
              </c:pt>
              <c:pt idx="12">
                <c:v>2.8851676528314325</c:v>
              </c:pt>
              <c:pt idx="13">
                <c:v>2.9749020963204185</c:v>
              </c:pt>
              <c:pt idx="14">
                <c:v>3.0695639548821272</c:v>
              </c:pt>
              <c:pt idx="15">
                <c:v>3.1480410718090659</c:v>
              </c:pt>
              <c:pt idx="16">
                <c:v>3.2295977230249577</c:v>
              </c:pt>
              <c:pt idx="17">
                <c:v>3.325104499012645</c:v>
              </c:pt>
              <c:pt idx="18">
                <c:v>3.4268740966387194</c:v>
              </c:pt>
              <c:pt idx="19">
                <c:v>3.4935401110650011</c:v>
              </c:pt>
              <c:pt idx="20">
                <c:v>3.5903095014168014</c:v>
              </c:pt>
              <c:pt idx="21">
                <c:v>3.6821194012149374</c:v>
              </c:pt>
              <c:pt idx="22">
                <c:v>3.7307210917650435</c:v>
              </c:pt>
              <c:pt idx="23">
                <c:v>3.8292719645402293</c:v>
              </c:pt>
              <c:pt idx="24">
                <c:v>3.9205086977474823</c:v>
              </c:pt>
              <c:pt idx="25">
                <c:v>3.9803536584675596</c:v>
              </c:pt>
              <c:pt idx="26">
                <c:v>4.0484983320734687</c:v>
              </c:pt>
              <c:pt idx="27">
                <c:v>4.0998981407995343</c:v>
              </c:pt>
              <c:pt idx="28">
                <c:v>4.175507589338741</c:v>
              </c:pt>
              <c:pt idx="29">
                <c:v>4.2528648448331365</c:v>
              </c:pt>
              <c:pt idx="30">
                <c:v>4.3280492291379051</c:v>
              </c:pt>
              <c:pt idx="31">
                <c:v>4.4049775617051559</c:v>
              </c:pt>
              <c:pt idx="32">
                <c:v>4.4711281433254753</c:v>
              </c:pt>
              <c:pt idx="33">
                <c:v>4.5536345489066097</c:v>
              </c:pt>
              <c:pt idx="34">
                <c:v>4.6610371283919774</c:v>
              </c:pt>
              <c:pt idx="35">
                <c:v>4.7148821166994122</c:v>
              </c:pt>
              <c:pt idx="36">
                <c:v>4.7811681111170685</c:v>
              </c:pt>
              <c:pt idx="37">
                <c:v>4.8695864988716364</c:v>
              </c:pt>
              <c:pt idx="38">
                <c:v>4.9243380755468289</c:v>
              </c:pt>
              <c:pt idx="39">
                <c:v>4.9826998385592125</c:v>
              </c:pt>
              <c:pt idx="40">
                <c:v>5.038181943973167</c:v>
              </c:pt>
              <c:pt idx="41">
                <c:v>5.1154493105969836</c:v>
              </c:pt>
              <c:pt idx="42">
                <c:v>5.1736448074611054</c:v>
              </c:pt>
              <c:pt idx="43">
                <c:v>5.2402428171930735</c:v>
              </c:pt>
              <c:pt idx="44">
                <c:v>5.2792604689276779</c:v>
              </c:pt>
              <c:pt idx="45">
                <c:v>5.3519858617630165</c:v>
              </c:pt>
              <c:pt idx="46">
                <c:v>5.4314415565786103</c:v>
              </c:pt>
              <c:pt idx="47">
                <c:v>5.5192073107989508</c:v>
              </c:pt>
              <c:pt idx="48">
                <c:v>5.5989191858102751</c:v>
              </c:pt>
              <c:pt idx="49">
                <c:v>5.7048003220109162</c:v>
              </c:pt>
              <c:pt idx="50">
                <c:v>5.7761439498690361</c:v>
              </c:pt>
              <c:pt idx="51">
                <c:v>5.8490462513074091</c:v>
              </c:pt>
              <c:pt idx="52">
                <c:v>5.941025487875228</c:v>
              </c:pt>
              <c:pt idx="53">
                <c:v>5.9829486020636518</c:v>
              </c:pt>
              <c:pt idx="54">
                <c:v>6.0460987561230084</c:v>
              </c:pt>
              <c:pt idx="55">
                <c:v>6.1069614992444752</c:v>
              </c:pt>
              <c:pt idx="56">
                <c:v>6.1695339849626674</c:v>
              </c:pt>
              <c:pt idx="57">
                <c:v>6.2695879630058204</c:v>
              </c:pt>
              <c:pt idx="58">
                <c:v>6.3521017937356774</c:v>
              </c:pt>
              <c:pt idx="59">
                <c:v>6.3986612071152038</c:v>
              </c:pt>
              <c:pt idx="60">
                <c:v>6.4610249531712753</c:v>
              </c:pt>
              <c:pt idx="61">
                <c:v>6.5673569467905724</c:v>
              </c:pt>
              <c:pt idx="62">
                <c:v>6.611099427182352</c:v>
              </c:pt>
              <c:pt idx="63">
                <c:v>6.6752572129150831</c:v>
              </c:pt>
              <c:pt idx="64">
                <c:v>6.7829724107691431</c:v>
              </c:pt>
              <c:pt idx="65">
                <c:v>6.8457332344861745</c:v>
              </c:pt>
              <c:pt idx="66">
                <c:v>6.927296300108031</c:v>
              </c:pt>
              <c:pt idx="67">
                <c:v>7.0110287449311937</c:v>
              </c:pt>
              <c:pt idx="68">
                <c:v>7.0904118115860086</c:v>
              </c:pt>
              <c:pt idx="69">
                <c:v>7.1851701777003747</c:v>
              </c:pt>
              <c:pt idx="70">
                <c:v>7.2824506820274495</c:v>
              </c:pt>
              <c:pt idx="71">
                <c:v>7.4082582662485441</c:v>
              </c:pt>
              <c:pt idx="72">
                <c:v>7.497114742125798</c:v>
              </c:pt>
              <c:pt idx="73">
                <c:v>7.5959312922090394</c:v>
              </c:pt>
              <c:pt idx="74">
                <c:v>7.6856186081003521</c:v>
              </c:pt>
              <c:pt idx="75">
                <c:v>7.8214305195620035</c:v>
              </c:pt>
              <c:pt idx="76">
                <c:v>7.9189532278010644</c:v>
              </c:pt>
              <c:pt idx="77">
                <c:v>7.9913574892162673</c:v>
              </c:pt>
              <c:pt idx="78">
                <c:v>8.0850753045741524</c:v>
              </c:pt>
              <c:pt idx="79">
                <c:v>8.181259809126292</c:v>
              </c:pt>
              <c:pt idx="80">
                <c:v>8.2720789488209459</c:v>
              </c:pt>
              <c:pt idx="81">
                <c:v>8.3868790096402783</c:v>
              </c:pt>
              <c:pt idx="82">
                <c:v>8.5155778663664066</c:v>
              </c:pt>
              <c:pt idx="83">
                <c:v>8.6013152054668129</c:v>
              </c:pt>
              <c:pt idx="84">
                <c:v>8.7845319833822639</c:v>
              </c:pt>
              <c:pt idx="85">
                <c:v>8.9321424537981411</c:v>
              </c:pt>
              <c:pt idx="86">
                <c:v>9.0963284498708976</c:v>
              </c:pt>
              <c:pt idx="87">
                <c:v>9.2548925638542432</c:v>
              </c:pt>
              <c:pt idx="88">
                <c:v>9.4736837418883777</c:v>
              </c:pt>
              <c:pt idx="89">
                <c:v>9.7167630340556173</c:v>
              </c:pt>
              <c:pt idx="90">
                <c:v>9.927074535254782</c:v>
              </c:pt>
              <c:pt idx="91">
                <c:v>10.239819074116653</c:v>
              </c:pt>
              <c:pt idx="92">
                <c:v>10.533089990745273</c:v>
              </c:pt>
              <c:pt idx="93">
                <c:v>10.752242122342032</c:v>
              </c:pt>
              <c:pt idx="94">
                <c:v>10.99051242972504</c:v>
              </c:pt>
              <c:pt idx="95">
                <c:v>11.233417653004555</c:v>
              </c:pt>
              <c:pt idx="96">
                <c:v>11.929679264071099</c:v>
              </c:pt>
              <c:pt idx="97">
                <c:v>12.4764721932195</c:v>
              </c:pt>
              <c:pt idx="98">
                <c:v>13.114196738348205</c:v>
              </c:pt>
              <c:pt idx="99">
                <c:v>14.71397337050438</c:v>
              </c:pt>
              <c:pt idx="100">
                <c:v>21.788051889856323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45E1-4DA0-9868-32EE377293A7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0.39784704664943976</c:v>
              </c:pt>
              <c:pt idx="1">
                <c:v>1.2393949538831281</c:v>
              </c:pt>
              <c:pt idx="2">
                <c:v>1.608149427195342</c:v>
              </c:pt>
              <c:pt idx="3">
                <c:v>1.8561966560109089</c:v>
              </c:pt>
              <c:pt idx="4">
                <c:v>2.1225870188766707</c:v>
              </c:pt>
              <c:pt idx="5">
                <c:v>2.2698600371327999</c:v>
              </c:pt>
              <c:pt idx="6">
                <c:v>2.4123433237669665</c:v>
              </c:pt>
              <c:pt idx="7">
                <c:v>2.532924448553163</c:v>
              </c:pt>
              <c:pt idx="8">
                <c:v>2.6492291036994766</c:v>
              </c:pt>
              <c:pt idx="9">
                <c:v>2.8218394615116438</c:v>
              </c:pt>
              <c:pt idx="10">
                <c:v>2.9119191417383821</c:v>
              </c:pt>
              <c:pt idx="11">
                <c:v>3.0257057637018479</c:v>
              </c:pt>
              <c:pt idx="12">
                <c:v>3.1618776142184837</c:v>
              </c:pt>
              <c:pt idx="13">
                <c:v>3.2224652697815475</c:v>
              </c:pt>
              <c:pt idx="14">
                <c:v>3.3122801611035801</c:v>
              </c:pt>
              <c:pt idx="15">
                <c:v>3.4045599166093825</c:v>
              </c:pt>
              <c:pt idx="16">
                <c:v>3.5143780137270944</c:v>
              </c:pt>
              <c:pt idx="17">
                <c:v>3.6027100711337861</c:v>
              </c:pt>
              <c:pt idx="18">
                <c:v>3.7407794117135156</c:v>
              </c:pt>
              <c:pt idx="19">
                <c:v>3.8543993222396771</c:v>
              </c:pt>
              <c:pt idx="20">
                <c:v>3.968190547617263</c:v>
              </c:pt>
              <c:pt idx="21">
                <c:v>4.0999053130762784</c:v>
              </c:pt>
              <c:pt idx="22">
                <c:v>4.1642591992081526</c:v>
              </c:pt>
              <c:pt idx="23">
                <c:v>4.2280330215585646</c:v>
              </c:pt>
              <c:pt idx="24">
                <c:v>4.3547007099890527</c:v>
              </c:pt>
              <c:pt idx="25">
                <c:v>4.4510121891187744</c:v>
              </c:pt>
              <c:pt idx="26">
                <c:v>4.529310071862489</c:v>
              </c:pt>
              <c:pt idx="27">
                <c:v>4.612384773381442</c:v>
              </c:pt>
              <c:pt idx="28">
                <c:v>4.6776539864767095</c:v>
              </c:pt>
              <c:pt idx="29">
                <c:v>4.8226514327764018</c:v>
              </c:pt>
              <c:pt idx="30">
                <c:v>4.9048826807884902</c:v>
              </c:pt>
              <c:pt idx="31">
                <c:v>4.9929457871388481</c:v>
              </c:pt>
              <c:pt idx="32">
                <c:v>5.0634157434797595</c:v>
              </c:pt>
              <c:pt idx="33">
                <c:v>5.1053435461675081</c:v>
              </c:pt>
              <c:pt idx="34">
                <c:v>5.1526982820737572</c:v>
              </c:pt>
              <c:pt idx="35">
                <c:v>5.2366807616833508</c:v>
              </c:pt>
              <c:pt idx="36">
                <c:v>5.3333711684037821</c:v>
              </c:pt>
              <c:pt idx="37">
                <c:v>5.4101747423396143</c:v>
              </c:pt>
              <c:pt idx="38">
                <c:v>5.475885368700717</c:v>
              </c:pt>
              <c:pt idx="39">
                <c:v>5.5655344832699498</c:v>
              </c:pt>
              <c:pt idx="40">
                <c:v>5.6886297202067988</c:v>
              </c:pt>
              <c:pt idx="41">
                <c:v>5.7861043060116115</c:v>
              </c:pt>
              <c:pt idx="42">
                <c:v>5.8759468509412347</c:v>
              </c:pt>
              <c:pt idx="43">
                <c:v>6.0083360548191944</c:v>
              </c:pt>
              <c:pt idx="44">
                <c:v>6.0857074082384157</c:v>
              </c:pt>
              <c:pt idx="45">
                <c:v>6.1551285429826681</c:v>
              </c:pt>
              <c:pt idx="46">
                <c:v>6.2028263404957764</c:v>
              </c:pt>
              <c:pt idx="47">
                <c:v>6.2502356124010809</c:v>
              </c:pt>
              <c:pt idx="48">
                <c:v>6.3295917514777269</c:v>
              </c:pt>
              <c:pt idx="49">
                <c:v>6.440747710924497</c:v>
              </c:pt>
              <c:pt idx="50">
                <c:v>6.5049567930169818</c:v>
              </c:pt>
              <c:pt idx="51">
                <c:v>6.5974748091401914</c:v>
              </c:pt>
              <c:pt idx="52">
                <c:v>6.6782064508588492</c:v>
              </c:pt>
              <c:pt idx="53">
                <c:v>6.7988001450339253</c:v>
              </c:pt>
              <c:pt idx="54">
                <c:v>6.8742677086547603</c:v>
              </c:pt>
              <c:pt idx="55">
                <c:v>6.9419848996451625</c:v>
              </c:pt>
              <c:pt idx="56">
                <c:v>7.0273858798279214</c:v>
              </c:pt>
              <c:pt idx="57">
                <c:v>7.0883968335790888</c:v>
              </c:pt>
              <c:pt idx="58">
                <c:v>7.1525061196053032</c:v>
              </c:pt>
              <c:pt idx="59">
                <c:v>7.2031811016455016</c:v>
              </c:pt>
              <c:pt idx="60">
                <c:v>7.3061501050815618</c:v>
              </c:pt>
              <c:pt idx="61">
                <c:v>7.3931101561568475</c:v>
              </c:pt>
              <c:pt idx="62">
                <c:v>7.5020030376404181</c:v>
              </c:pt>
              <c:pt idx="63">
                <c:v>7.6130476168304462</c:v>
              </c:pt>
              <c:pt idx="64">
                <c:v>7.6872731499939988</c:v>
              </c:pt>
              <c:pt idx="65">
                <c:v>7.7873860846224101</c:v>
              </c:pt>
              <c:pt idx="66">
                <c:v>7.9231717625644107</c:v>
              </c:pt>
              <c:pt idx="67">
                <c:v>8.032207405993228</c:v>
              </c:pt>
              <c:pt idx="68">
                <c:v>8.1329516559931179</c:v>
              </c:pt>
              <c:pt idx="69">
                <c:v>8.2283974641134545</c:v>
              </c:pt>
              <c:pt idx="70">
                <c:v>8.3502814125095206</c:v>
              </c:pt>
              <c:pt idx="71">
                <c:v>8.4337197190507407</c:v>
              </c:pt>
              <c:pt idx="72">
                <c:v>8.5391229112242577</c:v>
              </c:pt>
              <c:pt idx="73">
                <c:v>8.6323812168706038</c:v>
              </c:pt>
              <c:pt idx="74">
                <c:v>8.6812804793629361</c:v>
              </c:pt>
              <c:pt idx="75">
                <c:v>8.7902350782293546</c:v>
              </c:pt>
              <c:pt idx="76">
                <c:v>8.9785227242902561</c:v>
              </c:pt>
              <c:pt idx="77">
                <c:v>9.0915093014439705</c:v>
              </c:pt>
              <c:pt idx="78">
                <c:v>9.218135957771155</c:v>
              </c:pt>
              <c:pt idx="79">
                <c:v>9.3467202528712505</c:v>
              </c:pt>
              <c:pt idx="80">
                <c:v>9.5069943403784229</c:v>
              </c:pt>
              <c:pt idx="81">
                <c:v>9.7167157396587065</c:v>
              </c:pt>
              <c:pt idx="82">
                <c:v>9.8479723059183311</c:v>
              </c:pt>
              <c:pt idx="83">
                <c:v>9.9985484468723183</c:v>
              </c:pt>
              <c:pt idx="84">
                <c:v>10.143754241555385</c:v>
              </c:pt>
              <c:pt idx="85">
                <c:v>10.358284634216655</c:v>
              </c:pt>
              <c:pt idx="86">
                <c:v>10.602943659884428</c:v>
              </c:pt>
              <c:pt idx="87">
                <c:v>10.785210396100872</c:v>
              </c:pt>
              <c:pt idx="88">
                <c:v>10.94976706131634</c:v>
              </c:pt>
              <c:pt idx="89">
                <c:v>11.176113267564919</c:v>
              </c:pt>
              <c:pt idx="90">
                <c:v>11.465410105952904</c:v>
              </c:pt>
              <c:pt idx="91">
                <c:v>11.714255158458009</c:v>
              </c:pt>
              <c:pt idx="92">
                <c:v>11.943110428370403</c:v>
              </c:pt>
              <c:pt idx="93">
                <c:v>12.201900031205302</c:v>
              </c:pt>
              <c:pt idx="94">
                <c:v>12.718040448217428</c:v>
              </c:pt>
              <c:pt idx="95">
                <c:v>13.346082256427071</c:v>
              </c:pt>
              <c:pt idx="96">
                <c:v>13.935491407987758</c:v>
              </c:pt>
              <c:pt idx="97">
                <c:v>14.532654350373891</c:v>
              </c:pt>
              <c:pt idx="98">
                <c:v>15.114307018883128</c:v>
              </c:pt>
              <c:pt idx="99">
                <c:v>15.886779967602246</c:v>
              </c:pt>
              <c:pt idx="100">
                <c:v>21.397956414857493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45E1-4DA0-9868-32EE377293A7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101"/>
              <c:pt idx="0">
                <c:v>0.41588851679043531</c:v>
              </c:pt>
              <c:pt idx="1">
                <c:v>1.1249602893350967</c:v>
              </c:pt>
              <c:pt idx="2">
                <c:v>1.4144474415025245</c:v>
              </c:pt>
              <c:pt idx="3">
                <c:v>1.5506423731464156</c:v>
              </c:pt>
              <c:pt idx="4">
                <c:v>1.7520891173726216</c:v>
              </c:pt>
              <c:pt idx="5">
                <c:v>1.8811000644516425</c:v>
              </c:pt>
              <c:pt idx="6">
                <c:v>2.0025694174312871</c:v>
              </c:pt>
              <c:pt idx="7">
                <c:v>2.0619184545687457</c:v>
              </c:pt>
              <c:pt idx="8">
                <c:v>2.14319504974209</c:v>
              </c:pt>
              <c:pt idx="9">
                <c:v>2.2691821005506778</c:v>
              </c:pt>
              <c:pt idx="10">
                <c:v>2.3331405611244111</c:v>
              </c:pt>
              <c:pt idx="11">
                <c:v>2.3896237779630347</c:v>
              </c:pt>
              <c:pt idx="12">
                <c:v>2.4631070492184137</c:v>
              </c:pt>
              <c:pt idx="13">
                <c:v>2.5120687630140597</c:v>
              </c:pt>
              <c:pt idx="14">
                <c:v>2.5814331786564182</c:v>
              </c:pt>
              <c:pt idx="15">
                <c:v>2.6500724064674679</c:v>
              </c:pt>
              <c:pt idx="16">
                <c:v>2.7436781195293567</c:v>
              </c:pt>
              <c:pt idx="17">
                <c:v>2.8157774097718553</c:v>
              </c:pt>
              <c:pt idx="18">
                <c:v>2.8744398017354302</c:v>
              </c:pt>
              <c:pt idx="19">
                <c:v>2.9597488574237092</c:v>
              </c:pt>
              <c:pt idx="20">
                <c:v>3.0397782274808138</c:v>
              </c:pt>
              <c:pt idx="21">
                <c:v>3.0917593968643007</c:v>
              </c:pt>
              <c:pt idx="22">
                <c:v>3.1200275884183548</c:v>
              </c:pt>
              <c:pt idx="23">
                <c:v>3.1905775415777282</c:v>
              </c:pt>
              <c:pt idx="24">
                <c:v>3.2928937321776495</c:v>
              </c:pt>
              <c:pt idx="25">
                <c:v>3.3818775569121868</c:v>
              </c:pt>
              <c:pt idx="26">
                <c:v>3.4645755400301188</c:v>
              </c:pt>
              <c:pt idx="27">
                <c:v>3.5363672269972151</c:v>
              </c:pt>
              <c:pt idx="28">
                <c:v>3.5974998037436432</c:v>
              </c:pt>
              <c:pt idx="29">
                <c:v>3.6760582686461323</c:v>
              </c:pt>
              <c:pt idx="30">
                <c:v>3.7029945621505429</c:v>
              </c:pt>
              <c:pt idx="31">
                <c:v>3.7779509438136061</c:v>
              </c:pt>
              <c:pt idx="32">
                <c:v>3.8181780680167026</c:v>
              </c:pt>
              <c:pt idx="33">
                <c:v>3.8811133946121914</c:v>
              </c:pt>
              <c:pt idx="34">
                <c:v>3.9176693718853488</c:v>
              </c:pt>
              <c:pt idx="35">
                <c:v>3.9719685858348432</c:v>
              </c:pt>
              <c:pt idx="36">
                <c:v>4.0134966187782073</c:v>
              </c:pt>
              <c:pt idx="37">
                <c:v>4.0952925390325898</c:v>
              </c:pt>
              <c:pt idx="38">
                <c:v>4.1491989713076824</c:v>
              </c:pt>
              <c:pt idx="39">
                <c:v>4.2183658110707389</c:v>
              </c:pt>
              <c:pt idx="40">
                <c:v>4.2790353154790823</c:v>
              </c:pt>
              <c:pt idx="41">
                <c:v>4.3560452821113778</c:v>
              </c:pt>
              <c:pt idx="42">
                <c:v>4.4231610033061042</c:v>
              </c:pt>
              <c:pt idx="43">
                <c:v>4.4724973839876867</c:v>
              </c:pt>
              <c:pt idx="44">
                <c:v>4.5779090012129302</c:v>
              </c:pt>
              <c:pt idx="45">
                <c:v>4.6399644514833804</c:v>
              </c:pt>
              <c:pt idx="46">
                <c:v>4.6988104333766181</c:v>
              </c:pt>
              <c:pt idx="47">
                <c:v>4.7792029069706885</c:v>
              </c:pt>
              <c:pt idx="48">
                <c:v>4.8641813177605915</c:v>
              </c:pt>
              <c:pt idx="49">
                <c:v>4.9065766300150466</c:v>
              </c:pt>
              <c:pt idx="50">
                <c:v>4.9416368465779819</c:v>
              </c:pt>
              <c:pt idx="51">
                <c:v>5.0023425096575975</c:v>
              </c:pt>
              <c:pt idx="52">
                <c:v>5.0634152900121103</c:v>
              </c:pt>
              <c:pt idx="53">
                <c:v>5.1348375683574519</c:v>
              </c:pt>
              <c:pt idx="54">
                <c:v>5.2172309076143524</c:v>
              </c:pt>
              <c:pt idx="55">
                <c:v>5.2693066109867752</c:v>
              </c:pt>
              <c:pt idx="56">
                <c:v>5.331500983028187</c:v>
              </c:pt>
              <c:pt idx="57">
                <c:v>5.4225373361218177</c:v>
              </c:pt>
              <c:pt idx="58">
                <c:v>5.4908519009945955</c:v>
              </c:pt>
              <c:pt idx="59">
                <c:v>5.5305747188800023</c:v>
              </c:pt>
              <c:pt idx="60">
                <c:v>5.6590493973123364</c:v>
              </c:pt>
              <c:pt idx="61">
                <c:v>5.7321085302200574</c:v>
              </c:pt>
              <c:pt idx="62">
                <c:v>5.7967114896012353</c:v>
              </c:pt>
              <c:pt idx="63">
                <c:v>5.8912600514495512</c:v>
              </c:pt>
              <c:pt idx="64">
                <c:v>6.0001759503005809</c:v>
              </c:pt>
              <c:pt idx="65">
                <c:v>6.0746020707633956</c:v>
              </c:pt>
              <c:pt idx="66">
                <c:v>6.1383391962316072</c:v>
              </c:pt>
              <c:pt idx="67">
                <c:v>6.2122505188522696</c:v>
              </c:pt>
              <c:pt idx="68">
                <c:v>6.3369973769641392</c:v>
              </c:pt>
              <c:pt idx="69">
                <c:v>6.4449108957392847</c:v>
              </c:pt>
              <c:pt idx="70">
                <c:v>6.5895504703385637</c:v>
              </c:pt>
              <c:pt idx="71">
                <c:v>6.6755338915260873</c:v>
              </c:pt>
              <c:pt idx="72">
                <c:v>6.7703706322623995</c:v>
              </c:pt>
              <c:pt idx="73">
                <c:v>6.827643780417409</c:v>
              </c:pt>
              <c:pt idx="74">
                <c:v>6.9291511559124821</c:v>
              </c:pt>
              <c:pt idx="75">
                <c:v>7.0079331810239403</c:v>
              </c:pt>
              <c:pt idx="76">
                <c:v>7.1570329577458809</c:v>
              </c:pt>
              <c:pt idx="77">
                <c:v>7.2450766418107717</c:v>
              </c:pt>
              <c:pt idx="78">
                <c:v>7.3054639195228246</c:v>
              </c:pt>
              <c:pt idx="79">
                <c:v>7.4595286880244585</c:v>
              </c:pt>
              <c:pt idx="80">
                <c:v>7.622566604021018</c:v>
              </c:pt>
              <c:pt idx="81">
                <c:v>7.817007143486884</c:v>
              </c:pt>
              <c:pt idx="82">
                <c:v>7.9019163638417531</c:v>
              </c:pt>
              <c:pt idx="83">
                <c:v>8.0482328309082956</c:v>
              </c:pt>
              <c:pt idx="84">
                <c:v>8.145715875772936</c:v>
              </c:pt>
              <c:pt idx="85">
                <c:v>8.3435106351012269</c:v>
              </c:pt>
              <c:pt idx="86">
                <c:v>8.4699488332606183</c:v>
              </c:pt>
              <c:pt idx="87">
                <c:v>8.6592439410211224</c:v>
              </c:pt>
              <c:pt idx="88">
                <c:v>8.7975269574550943</c:v>
              </c:pt>
              <c:pt idx="89">
                <c:v>8.9996629448837435</c:v>
              </c:pt>
              <c:pt idx="90">
                <c:v>9.1203118455535357</c:v>
              </c:pt>
              <c:pt idx="91">
                <c:v>9.3858354151648982</c:v>
              </c:pt>
              <c:pt idx="92">
                <c:v>9.7047784091035147</c:v>
              </c:pt>
              <c:pt idx="93">
                <c:v>10.018363907241353</c:v>
              </c:pt>
              <c:pt idx="94">
                <c:v>10.435625954106301</c:v>
              </c:pt>
              <c:pt idx="95">
                <c:v>10.711810055276944</c:v>
              </c:pt>
              <c:pt idx="96">
                <c:v>11.120480558210701</c:v>
              </c:pt>
              <c:pt idx="97">
                <c:v>12.013693069322098</c:v>
              </c:pt>
              <c:pt idx="98">
                <c:v>12.827268165364121</c:v>
              </c:pt>
              <c:pt idx="99">
                <c:v>13.408623125652822</c:v>
              </c:pt>
              <c:pt idx="100">
                <c:v>21.79770337028144</c:v>
              </c:pt>
            </c:numLit>
          </c:xVal>
          <c:yVal>
            <c:numLit>
              <c:formatCode>0.0</c:formatCode>
              <c:ptCount val="101"/>
              <c:pt idx="0">
                <c:v>0</c:v>
              </c:pt>
              <c:pt idx="1">
                <c:v>0.01</c:v>
              </c:pt>
              <c:pt idx="2">
                <c:v>0.02</c:v>
              </c:pt>
              <c:pt idx="3">
                <c:v>0.03</c:v>
              </c:pt>
              <c:pt idx="4">
                <c:v>0.04</c:v>
              </c:pt>
              <c:pt idx="5">
                <c:v>0.05</c:v>
              </c:pt>
              <c:pt idx="6">
                <c:v>0.06</c:v>
              </c:pt>
              <c:pt idx="7">
                <c:v>7.0000000000000007E-2</c:v>
              </c:pt>
              <c:pt idx="8">
                <c:v>0.08</c:v>
              </c:pt>
              <c:pt idx="9">
                <c:v>0.09</c:v>
              </c:pt>
              <c:pt idx="10">
                <c:v>0.1</c:v>
              </c:pt>
              <c:pt idx="11">
                <c:v>0.11</c:v>
              </c:pt>
              <c:pt idx="12">
                <c:v>0.12</c:v>
              </c:pt>
              <c:pt idx="13">
                <c:v>0.13</c:v>
              </c:pt>
              <c:pt idx="14">
                <c:v>0.14000000000000001</c:v>
              </c:pt>
              <c:pt idx="15">
                <c:v>0.15</c:v>
              </c:pt>
              <c:pt idx="16">
                <c:v>0.16</c:v>
              </c:pt>
              <c:pt idx="17">
                <c:v>0.17</c:v>
              </c:pt>
              <c:pt idx="18">
                <c:v>0.18</c:v>
              </c:pt>
              <c:pt idx="19">
                <c:v>0.19</c:v>
              </c:pt>
              <c:pt idx="20">
                <c:v>0.2</c:v>
              </c:pt>
              <c:pt idx="21">
                <c:v>0.21</c:v>
              </c:pt>
              <c:pt idx="22">
                <c:v>0.22</c:v>
              </c:pt>
              <c:pt idx="23">
                <c:v>0.23</c:v>
              </c:pt>
              <c:pt idx="24">
                <c:v>0.24</c:v>
              </c:pt>
              <c:pt idx="25">
                <c:v>0.25</c:v>
              </c:pt>
              <c:pt idx="26">
                <c:v>0.26</c:v>
              </c:pt>
              <c:pt idx="27">
                <c:v>0.27</c:v>
              </c:pt>
              <c:pt idx="28">
                <c:v>0.28000000000000003</c:v>
              </c:pt>
              <c:pt idx="29">
                <c:v>0.28999999999999998</c:v>
              </c:pt>
              <c:pt idx="30">
                <c:v>0.3</c:v>
              </c:pt>
              <c:pt idx="31">
                <c:v>0.31</c:v>
              </c:pt>
              <c:pt idx="32">
                <c:v>0.32</c:v>
              </c:pt>
              <c:pt idx="33">
                <c:v>0.33</c:v>
              </c:pt>
              <c:pt idx="34">
                <c:v>0.34</c:v>
              </c:pt>
              <c:pt idx="35">
                <c:v>0.35000000000000003</c:v>
              </c:pt>
              <c:pt idx="36">
                <c:v>0.36</c:v>
              </c:pt>
              <c:pt idx="37">
                <c:v>0.37</c:v>
              </c:pt>
              <c:pt idx="38">
                <c:v>0.38</c:v>
              </c:pt>
              <c:pt idx="39">
                <c:v>0.39</c:v>
              </c:pt>
              <c:pt idx="40">
                <c:v>0.4</c:v>
              </c:pt>
              <c:pt idx="41">
                <c:v>0.41000000000000003</c:v>
              </c:pt>
              <c:pt idx="42">
                <c:v>0.42</c:v>
              </c:pt>
              <c:pt idx="43">
                <c:v>0.43</c:v>
              </c:pt>
              <c:pt idx="44">
                <c:v>0.44</c:v>
              </c:pt>
              <c:pt idx="45">
                <c:v>0.45</c:v>
              </c:pt>
              <c:pt idx="46">
                <c:v>0.46</c:v>
              </c:pt>
              <c:pt idx="47">
                <c:v>0.47000000000000003</c:v>
              </c:pt>
              <c:pt idx="48">
                <c:v>0.48</c:v>
              </c:pt>
              <c:pt idx="49">
                <c:v>0.49</c:v>
              </c:pt>
              <c:pt idx="50">
                <c:v>0.5</c:v>
              </c:pt>
              <c:pt idx="51">
                <c:v>0.51</c:v>
              </c:pt>
              <c:pt idx="52">
                <c:v>0.52</c:v>
              </c:pt>
              <c:pt idx="53">
                <c:v>0.53</c:v>
              </c:pt>
              <c:pt idx="54">
                <c:v>0.54</c:v>
              </c:pt>
              <c:pt idx="55">
                <c:v>0.55000000000000004</c:v>
              </c:pt>
              <c:pt idx="56">
                <c:v>0.56000000000000005</c:v>
              </c:pt>
              <c:pt idx="57">
                <c:v>0.57000000000000006</c:v>
              </c:pt>
              <c:pt idx="58">
                <c:v>0.57999999999999996</c:v>
              </c:pt>
              <c:pt idx="59">
                <c:v>0.59</c:v>
              </c:pt>
              <c:pt idx="60">
                <c:v>0.6</c:v>
              </c:pt>
              <c:pt idx="61">
                <c:v>0.61</c:v>
              </c:pt>
              <c:pt idx="62">
                <c:v>0.62</c:v>
              </c:pt>
              <c:pt idx="63">
                <c:v>0.63</c:v>
              </c:pt>
              <c:pt idx="64">
                <c:v>0.64</c:v>
              </c:pt>
              <c:pt idx="65">
                <c:v>0.65</c:v>
              </c:pt>
              <c:pt idx="66">
                <c:v>0.66</c:v>
              </c:pt>
              <c:pt idx="67">
                <c:v>0.67</c:v>
              </c:pt>
              <c:pt idx="68">
                <c:v>0.68</c:v>
              </c:pt>
              <c:pt idx="69">
                <c:v>0.69000000000000006</c:v>
              </c:pt>
              <c:pt idx="70">
                <c:v>0.70000000000000007</c:v>
              </c:pt>
              <c:pt idx="71">
                <c:v>0.71</c:v>
              </c:pt>
              <c:pt idx="72">
                <c:v>0.72</c:v>
              </c:pt>
              <c:pt idx="73">
                <c:v>0.73</c:v>
              </c:pt>
              <c:pt idx="74">
                <c:v>0.74</c:v>
              </c:pt>
              <c:pt idx="75">
                <c:v>0.75</c:v>
              </c:pt>
              <c:pt idx="76">
                <c:v>0.76</c:v>
              </c:pt>
              <c:pt idx="77">
                <c:v>0.77</c:v>
              </c:pt>
              <c:pt idx="78">
                <c:v>0.78</c:v>
              </c:pt>
              <c:pt idx="79">
                <c:v>0.79</c:v>
              </c:pt>
              <c:pt idx="80">
                <c:v>0.8</c:v>
              </c:pt>
              <c:pt idx="81">
                <c:v>0.81</c:v>
              </c:pt>
              <c:pt idx="82">
                <c:v>0.82000000000000006</c:v>
              </c:pt>
              <c:pt idx="83">
                <c:v>0.83000000000000007</c:v>
              </c:pt>
              <c:pt idx="84">
                <c:v>0.84</c:v>
              </c:pt>
              <c:pt idx="85">
                <c:v>0.85</c:v>
              </c:pt>
              <c:pt idx="86">
                <c:v>0.86</c:v>
              </c:pt>
              <c:pt idx="87">
                <c:v>0.87</c:v>
              </c:pt>
              <c:pt idx="88">
                <c:v>0.88</c:v>
              </c:pt>
              <c:pt idx="89">
                <c:v>0.89</c:v>
              </c:pt>
              <c:pt idx="90">
                <c:v>0.9</c:v>
              </c:pt>
              <c:pt idx="91">
                <c:v>0.91</c:v>
              </c:pt>
              <c:pt idx="92">
                <c:v>0.92</c:v>
              </c:pt>
              <c:pt idx="93">
                <c:v>0.93</c:v>
              </c:pt>
              <c:pt idx="94">
                <c:v>0.94000000000000006</c:v>
              </c:pt>
              <c:pt idx="95">
                <c:v>0.95000000000000007</c:v>
              </c:pt>
              <c:pt idx="96">
                <c:v>0.96</c:v>
              </c:pt>
              <c:pt idx="97">
                <c:v>0.97</c:v>
              </c:pt>
              <c:pt idx="98">
                <c:v>0.98</c:v>
              </c:pt>
              <c:pt idx="99">
                <c:v>0.99</c:v>
              </c:pt>
              <c:pt idx="100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45E1-4DA0-9868-32EE377293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累積機率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螺絲定位誤差（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</c:v>
          </c:tx>
          <c:spPr>
            <a:ln w="23813">
              <a:solidFill>
                <a:srgbClr val="C25B24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0.72033847763605363</c:v>
              </c:pt>
              <c:pt idx="1">
                <c:v>0.72033847763605363</c:v>
              </c:pt>
              <c:pt idx="2">
                <c:v>0.72033847763605363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884A-4FCA-839A-012637A35C4D}"/>
            </c:ext>
          </c:extLst>
        </c:ser>
        <c:ser>
          <c:idx val="1"/>
          <c:order val="1"/>
          <c:tx>
            <c:v>B</c:v>
          </c:tx>
          <c:spPr>
            <a:ln w="23813">
              <a:solidFill>
                <a:srgbClr val="355C9A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1.0772226496957265</c:v>
              </c:pt>
              <c:pt idx="1">
                <c:v>1.0772226496957265</c:v>
              </c:pt>
              <c:pt idx="2">
                <c:v>1.0772226496957265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884A-4FCA-839A-012637A35C4D}"/>
            </c:ext>
          </c:extLst>
        </c:ser>
        <c:ser>
          <c:idx val="2"/>
          <c:order val="2"/>
          <c:tx>
            <c:v>C</c:v>
          </c:tx>
          <c:spPr>
            <a:ln w="23813">
              <a:solidFill>
                <a:srgbClr val="477A53"/>
              </a:solidFill>
            </a:ln>
          </c:spPr>
          <c:marker>
            <c:symbol val="none"/>
          </c:marker>
          <c:xVal>
            <c:numLit>
              <c:formatCode>General</c:formatCode>
              <c:ptCount val="3"/>
              <c:pt idx="0">
                <c:v>0</c:v>
              </c:pt>
              <c:pt idx="1">
                <c:v>20</c:v>
              </c:pt>
              <c:pt idx="2">
                <c:v>50</c:v>
              </c:pt>
            </c:numLit>
          </c:xVal>
          <c:yVal>
            <c:numLit>
              <c:formatCode>0.0</c:formatCode>
              <c:ptCount val="3"/>
              <c:pt idx="0">
                <c:v>1.2238277193053434E-3</c:v>
              </c:pt>
              <c:pt idx="1">
                <c:v>1.1518827227147124</c:v>
              </c:pt>
              <c:pt idx="2">
                <c:v>2.8804434716893295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884A-4FCA-839A-012637A35C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TW" altLang="en-US">
                    <a:latin typeface="標楷體"/>
                    <a:ea typeface="標楷體"/>
                    <a:cs typeface="標楷體"/>
                  </a:rPr>
                  <a:t>平均誤差（</a:t>
                </a:r>
                <a:r>
                  <a:rPr lang="en-US" altLang="zh-TW">
                    <a:latin typeface="標楷體"/>
                    <a:ea typeface="標楷體"/>
                    <a:cs typeface="標楷體"/>
                  </a:rPr>
                  <a:t>cm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標楷體"/>
                    <a:ea typeface="標楷體"/>
                    <a:cs typeface="標楷體"/>
                  </a:rPr>
                  <a:t>pose </a:t>
                </a:r>
                <a:r>
                  <a:rPr lang="zh-TW" altLang="en-US">
                    <a:latin typeface="標楷體"/>
                    <a:ea typeface="標楷體"/>
                    <a:cs typeface="標楷體"/>
                  </a:rPr>
                  <a:t>時鐘偏差（</a:t>
                </a:r>
                <a:r>
                  <a:rPr lang="en-US">
                    <a:latin typeface="標楷體"/>
                    <a:ea typeface="標楷體"/>
                    <a:cs typeface="標楷體"/>
                  </a:rPr>
                  <a:t>ms）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endParaRPr lang="zh-TW"/>
          </a:p>
        </c:txPr>
        <c:crossAx val="48672768"/>
        <c:crosses val="autoZero"/>
        <c:crossBetween val="midCat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latin typeface="標楷體"/>
              <a:ea typeface="標楷體"/>
              <a:cs typeface="標楷體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本次延續八月的多工具末端點定位研究。上次介紹螺絲座標轉換、Hungarian 關聯與 ES-EKF、RMV-FGO。這次先處理這些演算法的共同前提：同一筆量測的彩色、深度及設備姿態，是否真的來自同一個時間。報告日期先依下週四設定為 2026 年 10 月 22 日，可再依會議安排修改。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上次的研究焦點是螺絲多視角融合。本次先用 frame ID 和擷取時間處理資料同步，再完成 Hungarian、四種螺絲融合、平台顯示與歷史回放的串接。驗證分成兩類：原本的離散事件模型用來分析同步策略的精度與吞吐取捨，新增的軟體測試用來確認同一幀的資料能正確進入融合、儲存及顯示。兩者的數據不能混用，也不能把測試通過數量當成定位精度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螺絲雖然靜止，但設備正在移動。彩色圖在 tc 看見螺絲，深度圖應對應同一次觀測，設備 pose 也應代表 tc。假設深度配對正確，如果使用 tp 時間的設備位姿，世界座標仍會偏移。式中的 p 是平移位置、R 是旋轉矩陣，C 表示相機座標、B 表示設備座標、W 表示世界座標。外參 R_C^B 和 t_C^B 是設定與校正值，上游 R_B^W(t)、p_B^W(t) 是動態估計值。單一 frame ID 只追蹤資料身分，不能證明相機曝光或跨裝置時鐘已同步。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目前已完成軟體端同幀資料的串接。RGB-D 封包接收後先配對設備 pose，計算螺絲原始世界座標，再以 Hungarian 關聯地圖螺絲並更新融合結果。前端使用相同封包的影像，搭配相同 frame ID 的 bbox、設備姿態和螺絲位置，歷史模式直接讀取已儲存資料。真實模型仍未接入，測試深度與姿態仍為模擬數據。此處的已完成指軟體資料流，尚未代表真實硬體或定位精度驗收。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每組 RGB-D 封包保存彩色 JPEG 與無損 uint16 深度 PNG。operationId、sessionId、frameId 唯一識別同一組資料，擷取時間以奈秒字串保存。新版 rgbdframes 另外保存對齊 pose、原始螺絲量測、Hungarian 關聯及四種融合結果。回放時間 videoTimeMs 由擷取時間減去 session 首幀擷取時間得到，並保留掉幀的時間間隔。這個時間索引只對應封包回放，尚未與獨立 RTSP MP4 建立 PTS 對照。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設影像擷取時間為 tc，前後設備資料為 t0、t1。alpha 等於 tc 減 t0，再除以 t1 減 t0，因此在零到一之間。位置以兩筆位置的加權平均求得。姿態不能直接線性平均 Euler 角，這裡使用四元數 SLERP。若影像時刻有完全相同的 pose，直接使用該筆。程式最多等待 100 ms，插值兩端相距不能超過 200 ms。RGB 與深度擷取時間差大於 20 ms 也不進行世界定位。這三個門檻都是初版工程值，尚未經硬體實測校正。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這次新增的關鍵是讓同步資料真正進入螺絲融合。AI 的輸入包含同幀彩色、深度與對齊設備 pose，輸出原始世界座標量測。後端以量測到各候選螺絲的三維歐氏距離建立 Hungarian 成本矩陣。距離大於 0.8 m 或已知類別不符的邊，先設定為不可接受，並加入未匹配欄，避免錯誤觀測搶走有效配對。未知 mock 類別只用距離條件。通過關聯後，每顆螺絲使用最近 60 筆原始觀測，沿用平均法、EKF、ES-EKF 及 RMV-FGO 實作。四種結果分開保存在同一幀文件，重試不重複加入觀測。這次沒有重算上游設備 UWB+IMU 演算法，也沒有將原本簡化 RMV-FGO 改成聯合姿態優化。0.8 m 與 60 筆均為工程設定，仍需用實際資料調整。</a:t>
            </a:r>
          </a:p>
          <a:p>
            <a:endParaRPr/>
          </a:p>
          <a:p>
            <a:r>
              <a:t>資料來源：backend/src/positioning/rgbdFusion.js；backend/src/positioning/screwFusion.js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新版同步播放器直接讀取 RGB-D 封包的影像，不再將獨立 RTSP 畫面與最新定位結果拼在一起。前端先完成該幀影像解碼，再提交畫面、bbox、設備姿態和螺絲結果。非同步回應如果已經過時，就不覆蓋目前畫面。即時模式暫停只停止前端更新，後端仍持續處理與儲存，恢復後取得最新完整幀。歷史模式依擷取時間索引查詢已存結果，暫停後所有定位資料停止，拖曳會選取對應的紀錄。光學和深度切換保持同一個 frame ID。即使本幀沒有偵測到螺絲，設備 pose 仍獨立保存，3D 軌跡不依賴螺絲出現才更新。這個版本使用封包序列回放，既有 RTSP MP4 尚無逐幀 PTS 映射。</a:t>
            </a:r>
          </a:p>
          <a:p>
            <a:endParaRPr/>
          </a:p>
          <a:p>
            <a:r>
              <a:t>資料來源：frontend/src/components/RgbdViewer.vue；backend/src/routes/rgbdRoutes.js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每幀包含 pose、關聯及融合結果，以單一 MongoDB 文件原子寫入。同一 operation、session、frame ID 是唯一鍵，重送回傳既有紀錄，不重複更新融合。AI 先將原始封包及處理快照留存在本機 journal，後端成功確認後才建立 committed 標記。HTTP 失敗時保留 pending，背景每五秒按 session 與 frame 次序補寫，前一幀失敗時不跳過寫後面。同一 session 重連會回報已提交的最後一幀，發送端重送同一封包，不重新生成辨識結果。操作結束後，只有結束前已留在本機的 journal 才允許補寫。此設計是目前單一 Node 伺服器的有界序列化方案，多副本部署還需要跨程序排序或鎖定。</a:t>
            </a:r>
          </a:p>
          <a:p>
            <a:endParaRPr/>
          </a:p>
          <a:p>
            <a:r>
              <a:t>資料來源：AI/rgbd_api.py；AI/test/rgbd_transport.py；backend/src/routes/rgbdRoutes.js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驗證分為協定及幾何單元測試、Node 與真實 MongoDB 整合測試，以及 AI 封包處理到 HTTP、Mongo、影像讀取與回放索引的串接測試。Python 十個測試包括深度無損、時間門檻、pose 插值、重試、重連與 journal 恢復。Node 四個測試覆蓋四種融合、一對一關聯與拒絕條件、無偵測時保留地圖，以及真正資料庫寫入。40 幀 fixture 中刻意安排 5 幀漏檢，因此保留 40 筆設備軌跡而只有 35 筆有效螺絲觀測，四種融合結果均可查詢。另外模擬一幀寫入失敗，再結束操作，確認背景可補回這一筆。瀏覽器已檢查播放、返回第一幀、深度切換及歷史演算法選擇。這是合成輸入的功能驗收，不是定位誤差實驗，也沒有測到新版完整 FPS 或 P95。</a:t>
            </a:r>
          </a:p>
          <a:p>
            <a:endParaRPr/>
          </a:p>
          <a:p>
            <a:r>
              <a:t>資料來源：AI/test/test_rgbd_api.py；AI/test/test_rgbd_sync.py；AI/test/rgbd_e2e.py；backend/apiTest/test-rgbd.mjs；backend/apiTest/test-rgbd-fusion.mjs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以兩個獨立、一幀容量的解碼緩衝代表舊流程，從各通道取得下一個可用資料，並使用當時最新 pose。B 只改善 RGB-D 同組傳輸，但仍使用最新 pose。C 再加上擷取時間對齊與過期拒絕。B/C 採單筆在途與 ACK，忙碌時來源端只保留最新完整組，這是持續擷取設備的行為模型。現有測試影片發送器會等待 ACK 後再讀下一張，兩者不能宣稱完全相同。三組共享相同 seed 的延遲、遺失、服務時間與感測雜訊 trace。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模型以事件優先佇列推進時間，包含影格擷取、抵達、處理完成及 ACK，不依靠真實 sleep 跑兩分鐘。每個情境模擬 120 秒，使用 30 個種子，共 21 個情境、三種策略。網路延遲、感測雜訊等參數為工程假設，只有最後的編解碼及資料庫微基準是本機實測。場景中設備以平滑曲線移動，螺絲固定在牆面，每次用該時刻幾何重新計算深度。因此錯配會真的改變幾何量測，而不只改掉 frame ID 的標籤。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錯配率是已輸出定位中，彩色與深度來源 ID 不同的比例。覆蓋率的分母則是所有擷取幀，因此丟掉資料雖可降低錯誤，覆蓋率也會下降。延遲是擷取到處理及資料庫寫入完成的時間。資訊年齡 AoI 是目前時間減去最新完成結果的擷取時間，能反映系統即使沒更新仍持續變舊。P95 表示百分之九十五的樣本不超過該值。表格先算每個 trial 的指標，再跨 trial 平均；信賴區間以 trial 為獨立單位，不能把相關逐幀資料當成獨立實驗。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左圖比較錯配率，右圖比較有效覆蓋率。每個通道獨立遺失百分之十影格時，A 約百分之十六點一六的已輸出結果配到不同 frame，C 為零。零跨幀錯配是同包傳送的結構保證，不是對未知資料的預測結果。代價是完整組傳送、單筆 ACK 與等待 pose，使 C 覆蓋率約百分之六十七點七三。圖中只顯示跨 trial 平均，完整信賴區間另存 CSV。不可只看零錯配而忽略未更新幀。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這裡使用深度額外延遲 50 ms 並加入感測雜訊的情境，不使用接近零誤差的理想情境當主要成果。A、B、C 平均誤差分別是 6.19、6.96、5.51 公分。C 相較 A 約下降百分之十一，平均改善約 0.68 公分。B 雖配對正確，但傳輸較晚，仍拿最新 pose，反而增加時間不一致。C 的改善也包含兩點插值對獨立 pose 雜訊的平滑，不能全部歸因於修正時間差。共同 frame 比較也得到相近差異，詳細數據附在 paired_differences.csv。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同一個情境，A 每秒接近二十筆，C 只有九點二六筆。P95 延遲從約六十四點四 ms 增加到一百四十九點七 ms。這不是模型跑得慢，而是所模擬的系統工作流程：單筆在途必須等處理、寫入與 ACK 回來，才能送下一組。因此本次只能說同步正確性提升，不能說整體速度提升。A 的高速度也不能解讀為高品質，因為這個情境的跨幀錯配率接近百分之百。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橫軸是螺絲誤差，縱軸是累積機率。對任一誤差門檻，如果曲線較高，代表更多輸出在門檻內。這一張是第一個 seed 的代表性 trial，圖表用 101 個分位點重建 CDF，不是三十次試驗的信賴區間。C 整體較靠左，但感測雜訊仍造成尾端誤差。不能說同步修正會消除所有離群點，更不能把這個單幀結果與上次 RMV-FGO 的最終多視角融合誤差直接比較。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ID 和 clockId 不會自動校正兩台設備的時鐘。這裡讓 pose 的時間標記偏移二十或五十 ms，但真實運動不變。C 會依錯誤時間標記尋找 pose，五十 ms 時平均誤差約二點八八公分。A 和 B 使用最新到達資料，不讀該 timestamp，曲線不變不代表它們有時鐘同步能力。這個結果指出後續必須區分擷取時間、接收時間、時鐘 offset 與 drift，先確認時間座標，才能使用插值。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相機與深度擷取相差三十 ms 時，C 超過二十 ms 門檻，所有幀都拒絕定位。因此誤差應記為沒有有效樣本，不能寫成零。pose 每五秒中斷一秒時，C 不使用過期 pose，覆蓋率下降且資訊年齡上升，這是正確性與持續更新的取捨。處理過載時，緩衝有界可以避免無限制積壓，但仍需量測更新率。這些實驗尚未涵蓋真實網路斷線協定恢復與 SDK 緩衝，後續需另做故障注入測試。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  <a:p>
            <a:endParaRPr/>
          </a:p>
          <a:p>
            <a:r>
              <a:t>更新：新版軟體已補上重送、同 session 重連及 journal 恢復測試。本頁仍呈現原離散事件情境，真實網路與相機 SDK 故障行為待硬體驗證。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這頁改用真實程式微基準。彩色來自測試影片，解析度縮成 640×360，深度是合成 uint16 平面，分平滑及帶雜訊兩種。每類暖機十次、量測八十次。帶雜訊深度編碼平均 4.30 ms，解碼 3.22 ms，封包約 254.9 KiB。若要求每秒二十組，僅 payload 就需要約 41.76 Mbit/s，這是資料量乘頻率，不是已量到的實際網路速率。HTTP 加 MongoDB 的一百次量測平均 4.26 ms。這裡沒有量 YOLO、真實網路、原始檔寫入或前端顯示，所以不可將這些平均值相加宣稱完整系統延遲。採用目前磁碟上最新的 benchmark 檔案，主機負載不同會改變結果。</a:t>
            </a:r>
          </a:p>
          <a:p>
            <a:endParaRPr/>
          </a:p>
          <a:p>
            <a:r>
              <a:t>資料來源：simulation/frame_sync/output/codec_benchmark.json；storage_benchmark.json</a:t>
            </a:r>
          </a:p>
          <a:p>
            <a:endParaRPr/>
          </a:p>
          <a:p>
            <a:r>
              <a:t>版本說明：本頁數據保留自前版同步核心微基準，未包含本次新增的 Hungarian、四種螺絲融合、journal 或同步播放器，不能作為新版端到端性能數據。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原本離散事件模型仍有近似：舊雙通道緩衝行為需要真實 trace 校正，場景只有一顆牆面螺絲，外參已知，尚未包含實際模型誤檢與邊界深度。新增的 40 幀整合 fixture 使用一致的幾何輸入及刻意設計的漏檢，只證明軟體串接在這些案例下正確。隨機 mock bbox 與合成平面深度並不一定接近地圖螺絲，系統會拒絕不合理配對，不用地圖真值反填量測。長時間、高 FPS、真實相機及完整 MQTT 硬體時鐘測試都仍待執行。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同幀融合與可視化已完成軟體串接，因此後續優先工作改成量測新版完整路徑。先記錄擷取、到達、推論、融合、寫入與前端呈現時間，使用相同 trace 比較負載和資料量，並測試長時間執行及中斷恢復。再比較容量一、二、四組的有界 pipeline，保留 frame ID 和完整 RGB-D 組的丟棄規則，同時看錯配率、覆蓋率、P95 延遲、AoI 與更新率。組員提供硬體後再檢查 timestamp、四元數順序、深度尺度、alignment 與內外參。若要獨立 MP4 同步回放，需從封包序列編碼並寫入實際 PTS 對照，目前封包回放已可使用。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我的研究重點仍是末端螺絲，不接管同學的 UWB+IMU 定位。第一個可研究方向是把時間不確定度傳播到螺絲量測協方差，時間對不準、設備動得快時，降低該觀測在融合中的權重。第二是非同步條件下比較時間對齊、協方差調整與 RMV-FGO robust weighting 的貢獻，做消融試驗，不能只增加複雜度。第三是關聯與融合共同驗證，在同類螺絲、遮擋及錯誤深度時，同時量測 ID 錯配率與螺絲誤差。這些是研究假設，尚未實作，也尚未做文獻新穎性確認。上次提到的 RMV-FGO 加 GWO，可先保留為候選，不宜直接設定證明它是最佳解。</a:t>
            </a:r>
          </a:p>
          <a:p>
            <a:endParaRPr/>
          </a:p>
          <a:p>
            <a:r>
              <a:t>資料來源：RGBD_FRAME_SYNC.md；simulation/frame_sync/output/RESULTS.md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此次新增進度是把同幀世界座標量測實際接進 Hungarian 和四種螺絲融合，再把結果與設備 pose 一起儲存並同步顯示。沒有螺絲偵測時設備姿態仍更新，歷史暫停不重算資料，即時恢復顯示最新完整幀。測試確認同幀資料流、重試一致性與結束後補寫。原有離散事件模擬顯示正確性與吞吐之間的取捨，但新版完整系統仍需重新量測端到端延遲。下一步先做性能與長時間驗證，再取得真實硬體資料完成場域精度評估。</a:t>
            </a:r>
          </a:p>
          <a:p>
            <a:endParaRPr/>
          </a:p>
          <a:p>
            <a:r>
              <a:t>資料來源：RGBD_FRAME_SYNC.md；backend/src/positioning/rgbdFusion.js；frontend/src/components/RgbdViewer.vue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1E6E-76BB-444F-BBBE-2E026C358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651837C-CCB7-41EB-86AF-3D92CA92C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1E233A-8AE3-4979-8771-66B2858C4652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7EF4D7-1191-48BF-9E77-2CFF46ABB2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B35CC4A-7928-4324-81E8-609B80C3FB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baseline="0">
                <a:solidFill>
                  <a:schemeClr val="tx1">
                    <a:tint val="75000"/>
                  </a:schemeClr>
                </a:solidFill>
                <a:latin typeface="Times New Roman"/>
                <a:ea typeface="Times New Roman"/>
                <a:cs typeface="Times New Roman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按一下以編輯母片副標題樣式</a:t>
            </a: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7682B0-1B0D-4874-8674-D7F505B6379E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A24CCA6-9FE6-4BFA-BFF5-CE1391C001E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3BA257-5A62-4948-9781-75929B352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D6C499-658A-4FAE-9725-32D6FF84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  <a:lvl2pPr>
              <a:buNone/>
              <a:defRPr baseline="0">
                <a:latin typeface="Times New Roman"/>
                <a:ea typeface="Times New Roman"/>
                <a:cs typeface="Times New Roman"/>
              </a:defRPr>
            </a:lvl2pPr>
            <a:lvl3pPr>
              <a:buNone/>
              <a:defRPr baseline="0">
                <a:latin typeface="Times New Roman"/>
                <a:ea typeface="Times New Roman"/>
                <a:cs typeface="Times New Roman"/>
              </a:defRPr>
            </a:lvl3pPr>
            <a:lvl4pPr>
              <a:buNone/>
              <a:defRPr baseline="0">
                <a:latin typeface="Times New Roman"/>
                <a:ea typeface="Times New Roman"/>
                <a:cs typeface="Times New Roman"/>
              </a:defRPr>
            </a:lvl4pPr>
            <a:lvl5pPr>
              <a:buNone/>
              <a:defRPr baseline="0">
                <a:latin typeface="Times New Roman"/>
                <a:ea typeface="Times New Roman"/>
                <a:cs typeface="Times New Roman"/>
              </a:defRPr>
            </a:lvl5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5F2DE2C-F1C0-4C0F-81C2-AD73564B9004}"/>
              </a:ext>
            </a:extLst>
          </p:cNvPr>
          <p:cNvSpPr>
            <a:spLocks noGrp="1"/>
          </p:cNvSpPr>
          <p:nvPr/>
        </p:nvSpPr>
        <p:spPr>
          <a:xfrm>
            <a:off x="6683083" y="6298814"/>
            <a:ext cx="246091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頁尾版面配置區 4">
            <a:extLst>
              <a:ext uri="{FF2B5EF4-FFF2-40B4-BE49-F238E27FC236}">
                <a16:creationId xmlns:a16="http://schemas.microsoft.com/office/drawing/2014/main" id="{FEA18B3C-D832-4082-9300-E35B88E797DF}"/>
              </a:ext>
            </a:extLst>
          </p:cNvPr>
          <p:cNvSpPr>
            <a:spLocks noGrp="1"/>
          </p:cNvSpPr>
          <p:nvPr/>
        </p:nvSpPr>
        <p:spPr>
          <a:xfrm>
            <a:off x="4067944" y="6370147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1D5D6F6-6CD0-46F0-9454-786D1BC866F9}"/>
              </a:ext>
            </a:extLst>
          </p:cNvPr>
          <p:cNvSpPr>
            <a:spLocks noGrp="1"/>
          </p:cNvSpPr>
          <p:nvPr/>
        </p:nvSpPr>
        <p:spPr>
          <a:xfrm>
            <a:off x="8248218" y="6452702"/>
            <a:ext cx="18473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350" b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D8A9A5-DE08-4495-9C60-07CBAAA3E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5919FC-2276-4B0A-8216-7C1B24E9DB0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9" name="頁尾版面配置區 4">
            <a:extLst>
              <a:ext uri="{FF2B5EF4-FFF2-40B4-BE49-F238E27FC236}">
                <a16:creationId xmlns:a16="http://schemas.microsoft.com/office/drawing/2014/main" id="{8065BDD2-DB66-45D2-9CCB-FD792A3E44AF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F2EFD61-2D2F-4237-94CC-0496B863988D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標題 1">
            <a:extLst>
              <a:ext uri="{FF2B5EF4-FFF2-40B4-BE49-F238E27FC236}">
                <a16:creationId xmlns:a16="http://schemas.microsoft.com/office/drawing/2014/main" id="{CC06B4F3-3F98-4280-9165-8BCAC8A7F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629C821-F7FF-4E13-B1C8-73BB0387D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B8BC9C-BEC6-48BC-B71C-C58BAB04413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10DB7B8-97E7-41C5-8023-2B84738C8FF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0C8C848-1865-4F4D-83BC-E216C2A247D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2BA80441-EEA1-4CE3-8A8E-3F8DEF4D3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buNone/>
              <a:defRPr baseline="0"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t>按一下以編輯母片標題樣式</a:t>
            </a:r>
          </a:p>
        </p:txBody>
      </p:sp>
      <p:sp>
        <p:nvSpPr>
          <p:cNvPr id="12" name="頁尾版面配置區 4">
            <a:extLst>
              <a:ext uri="{FF2B5EF4-FFF2-40B4-BE49-F238E27FC236}">
                <a16:creationId xmlns:a16="http://schemas.microsoft.com/office/drawing/2014/main" id="{0BB19392-3412-4F3D-A5CC-7A962AB26029}"/>
              </a:ext>
            </a:extLst>
          </p:cNvPr>
          <p:cNvSpPr>
            <a:spLocks noGrp="1"/>
          </p:cNvSpPr>
          <p:nvPr/>
        </p:nvSpPr>
        <p:spPr>
          <a:xfrm>
            <a:off x="4067944" y="6383432"/>
            <a:ext cx="1008112" cy="365125"/>
          </a:xfrm>
          <a:prstGeom prst="rect">
            <a:avLst/>
          </a:prstGeom>
        </p:spPr>
        <p:txBody>
          <a:bodyPr vert="horz" lIns="68580" tIns="34290" rIns="68580" bIns="34290" anchor="ctr"/>
          <a:lstStyle>
            <a:lvl1pPr marL="0" algn="ctr" defTabSz="914400"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fld id="{213ACD91-2177-4DB3-88CE-EB97874919C1}" type="slidenum">
              <a:rPr sz="120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‹#›</a:t>
            </a:fld>
            <a:endParaRPr sz="12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D391D72-A33C-4225-81EC-E4FF4A3B31B0}"/>
              </a:ext>
            </a:extLst>
          </p:cNvPr>
          <p:cNvSpPr>
            <a:spLocks noGrp="1"/>
          </p:cNvSpPr>
          <p:nvPr/>
        </p:nvSpPr>
        <p:spPr>
          <a:xfrm>
            <a:off x="6647563" y="6304384"/>
            <a:ext cx="249643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 i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National</a:t>
            </a:r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Cheng Kung University   EE     </a:t>
            </a:r>
          </a:p>
          <a:p>
            <a:r>
              <a:rPr sz="1050" b="1" i="0" baseline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       NDT &amp; NBMIS   LAB</a:t>
            </a:r>
            <a:endParaRPr sz="1050" b="1" i="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8C96762-8815-4D96-BD6D-C31DA1E2F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184CBCB-6257-4634-85B7-92CB38EBF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75262B-756F-4853-9475-B64F6BC7AC0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9C691D-034B-4E56-8382-B4F526A2852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B50250-E8A0-4200-A211-16999F3399B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1B1BA5-2161-4928-BBD8-1EF4F9D82B36}" type="slidenum">
              <a:t>‹#›</a:t>
            </a:fld>
            <a:endParaRPr/>
          </a:p>
        </p:txBody>
      </p:sp>
      <p:pic>
        <p:nvPicPr>
          <p:cNvPr id="8" name="Picture 9">
            <a:extLst>
              <a:ext uri="{FF2B5EF4-FFF2-40B4-BE49-F238E27FC236}">
                <a16:creationId xmlns:a16="http://schemas.microsoft.com/office/drawing/2014/main" id="{86EAEED5-9781-44D0-93A8-B847A4397AE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708"/>
          <a:stretch/>
        </p:blipFill>
        <p:spPr>
          <a:xfrm>
            <a:off x="0" y="6308726"/>
            <a:ext cx="9144000" cy="54927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836C8054-D135-4BFE-8E52-D08CF5DFD35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70831" r="33437" b="24540"/>
          <a:stretch/>
        </p:blipFill>
        <p:spPr>
          <a:xfrm>
            <a:off x="23342" y="1182090"/>
            <a:ext cx="6086475" cy="10801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D6B57E6-EFFA-431F-9D38-4F95B514E5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514" y="115521"/>
            <a:ext cx="1019111" cy="1019111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E66319B0-21BF-4101-B3A1-EAE0B7B9301C}"/>
              </a:ext>
            </a:extLst>
          </p:cNvPr>
          <p:cNvSpPr>
            <a:spLocks noGrp="1"/>
          </p:cNvSpPr>
          <p:nvPr/>
        </p:nvSpPr>
        <p:spPr>
          <a:xfrm>
            <a:off x="175704" y="6396718"/>
            <a:ext cx="144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1">
                <a:solidFill>
                  <a:schemeClr val="bg1"/>
                </a:solidFill>
                <a:latin typeface="標楷體"/>
                <a:ea typeface="標楷體"/>
                <a:cs typeface="標楷體"/>
              </a:rPr>
              <a:t>碩114 鄭子強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ctr" defTabSz="6858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7175" indent="-257175" algn="l" defTabSz="6858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557213" indent="-214313" algn="l" defTabSz="6858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進度報告">
            <a:extLst>
              <a:ext uri="{FF2B5EF4-FFF2-40B4-BE49-F238E27FC236}">
                <a16:creationId xmlns:a16="http://schemas.microsoft.com/office/drawing/2014/main" id="{C31A6A68-8F19-486E-A535-E1EF48E047A5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74295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4200" b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進度報告</a:t>
            </a:r>
          </a:p>
        </p:txBody>
      </p:sp>
      <p:sp>
        <p:nvSpPr>
          <p:cNvPr id="2" name="多工具末端點定位技術與 AI 自動判讀機">
            <a:extLst>
              <a:ext uri="{FF2B5EF4-FFF2-40B4-BE49-F238E27FC236}">
                <a16:creationId xmlns:a16="http://schemas.microsoft.com/office/drawing/2014/main" id="{16C61070-CD02-4F1A-8874-0FBE3B2D932F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781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32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多工具末端點定位技術與 </a:t>
            </a:r>
            <a:r>
              <a:rPr lang="en-US" altLang="zh-TW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AI </a:t>
            </a:r>
            <a:r>
              <a:rPr lang="zh-TW" altLang="en-US" sz="2325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自動判讀機制</a:t>
            </a:r>
          </a:p>
        </p:txBody>
      </p:sp>
      <p:sp>
        <p:nvSpPr>
          <p:cNvPr id="3" name="RGB-D 同步實作與定位資料時序驗證">
            <a:extLst>
              <a:ext uri="{FF2B5EF4-FFF2-40B4-BE49-F238E27FC236}">
                <a16:creationId xmlns:a16="http://schemas.microsoft.com/office/drawing/2014/main" id="{3BA09739-B5B0-451C-B414-FC99EFB9A298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40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400" b="0" dirty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RGB-D </a:t>
            </a:r>
            <a:r>
              <a:rPr sz="2400" b="0" dirty="0" err="1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同步實作與定位資料時序驗證</a:t>
            </a:r>
            <a:endParaRPr sz="2400" b="0" dirty="0">
              <a:solidFill>
                <a:srgbClr val="9F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4" name="學生：鄭子強&#10;指導教授：戴政祺 老師&#10;2">
            <a:extLst>
              <a:ext uri="{FF2B5EF4-FFF2-40B4-BE49-F238E27FC236}">
                <a16:creationId xmlns:a16="http://schemas.microsoft.com/office/drawing/2014/main" id="{1B024552-9FB0-40D3-8C11-8614C8FB8DCA}"/>
              </a:ext>
            </a:extLst>
          </p:cNvPr>
          <p:cNvSpPr>
            <a:spLocks noGrp="1"/>
          </p:cNvSpPr>
          <p:nvPr/>
        </p:nvSpPr>
        <p:spPr>
          <a:xfrm>
            <a:off x="1714500" y="4610100"/>
            <a:ext cx="5715000" cy="1371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學生：鄭子強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指導教授：戴政祺 老師</a:t>
            </a:r>
          </a:p>
          <a:p>
            <a:pPr algn="ctr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2026/10/22</a:t>
            </a:r>
          </a:p>
        </p:txBody>
      </p:sp>
    </p:spTree>
    <p:extLst>
      <p:ext uri="{BB962C8B-B14F-4D97-AF65-F5344CB8AC3E}">
        <p14:creationId xmlns:p14="http://schemas.microsoft.com/office/powerpoint/2010/main" val="647205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B6C1B28-D2E5-4BE4-BDE1-B2995723A30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上次成果與本次進度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5410631-3A73-4AB0-9396-CB095BFBBC9B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上次報告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本次進度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研究焦點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螺絲多視角融合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同幀資料與融合串接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主要方法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封包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時間對齊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驗證方式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 Monte Carlo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離散事件＋整合測試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目前階段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融合模擬與平台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同幀融合、同步回放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異常恢復與資料儲存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本次評估同步策略，與融合演算法比較分開呈">
            <a:extLst>
              <a:ext uri="{FF2B5EF4-FFF2-40B4-BE49-F238E27FC236}">
                <a16:creationId xmlns:a16="http://schemas.microsoft.com/office/drawing/2014/main" id="{476F71A9-488E-4F9E-BAAF-DF2E2148214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本次評估同步策略，與融合演算法比較分開呈現</a:t>
            </a:r>
          </a:p>
        </p:txBody>
      </p:sp>
    </p:spTree>
    <p:extLst>
      <p:ext uri="{BB962C8B-B14F-4D97-AF65-F5344CB8AC3E}">
        <p14:creationId xmlns:p14="http://schemas.microsoft.com/office/powerpoint/2010/main" val="46307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C698C19F-5B99-4FD3-BCD5-6B38E40E439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定位量測的時間一致性</a:t>
            </a:r>
          </a:p>
        </p:txBody>
      </p:sp>
      <p:sp>
        <p:nvSpPr>
          <p:cNvPr id="2" name="彩色影像、深度影像與設備 pose 可能">
            <a:extLst>
              <a:ext uri="{FF2B5EF4-FFF2-40B4-BE49-F238E27FC236}">
                <a16:creationId xmlns:a16="http://schemas.microsoft.com/office/drawing/2014/main" id="{00B966DE-E750-49CE-BE70-0CF05F4248CD}"/>
              </a:ext>
            </a:extLst>
          </p:cNvPr>
          <p:cNvSpPr>
            <a:spLocks noGrp="1"/>
          </p:cNvSpPr>
          <p:nvPr/>
        </p:nvSpPr>
        <p:spPr>
          <a:xfrm>
            <a:off x="619125" y="1552575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彩色影像、深度影像與設備 pose 可能來自不同時刻</a:t>
            </a:r>
          </a:p>
        </p:txBody>
      </p:sp>
      <p:sp>
        <p:nvSpPr>
          <p:cNvPr id="3" name="同一 frame ID 仍需檢查擷取時間">
            <a:extLst>
              <a:ext uri="{FF2B5EF4-FFF2-40B4-BE49-F238E27FC236}">
                <a16:creationId xmlns:a16="http://schemas.microsoft.com/office/drawing/2014/main" id="{5D5CF81D-22E5-4CAD-B634-8058A0D195A0}"/>
              </a:ext>
            </a:extLst>
          </p:cNvPr>
          <p:cNvSpPr>
            <a:spLocks noGrp="1"/>
          </p:cNvSpPr>
          <p:nvPr/>
        </p:nvSpPr>
        <p:spPr>
          <a:xfrm>
            <a:off x="619125" y="2305050"/>
            <a:ext cx="7905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同一 frame ID 仍需檢查擷取時間與時鐘來源</a:t>
            </a:r>
          </a:p>
        </p:txBody>
      </p:sp>
      <p:sp>
        <p:nvSpPr>
          <p:cNvPr id="4" name="pᵂ = R(t) [Rₑ pᶜ(t) ">
            <a:extLst>
              <a:ext uri="{FF2B5EF4-FFF2-40B4-BE49-F238E27FC236}">
                <a16:creationId xmlns:a16="http://schemas.microsoft.com/office/drawing/2014/main" id="{877400E8-6FAB-4476-B1E2-6C0A3FC7EF2C}"/>
              </a:ext>
            </a:extLst>
          </p:cNvPr>
          <p:cNvSpPr>
            <a:spLocks noGrp="1"/>
          </p:cNvSpPr>
          <p:nvPr/>
        </p:nvSpPr>
        <p:spPr>
          <a:xfrm>
            <a:off x="619125" y="3333750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pᵂ = R(t) [Rₑ pᶜ(t) + tₑ] + p(t)</a:t>
            </a:r>
          </a:p>
        </p:txBody>
      </p:sp>
      <p:sp>
        <p:nvSpPr>
          <p:cNvPr id="5" name="Rₑ、tₑ：相機外參；R(t)、p(t)">
            <a:extLst>
              <a:ext uri="{FF2B5EF4-FFF2-40B4-BE49-F238E27FC236}">
                <a16:creationId xmlns:a16="http://schemas.microsoft.com/office/drawing/2014/main" id="{B43EA7C3-4F81-47B0-8AAD-9AD56157DFBB}"/>
              </a:ext>
            </a:extLst>
          </p:cNvPr>
          <p:cNvSpPr>
            <a:spLocks noGrp="1"/>
          </p:cNvSpPr>
          <p:nvPr/>
        </p:nvSpPr>
        <p:spPr>
          <a:xfrm>
            <a:off x="619125" y="4019550"/>
            <a:ext cx="8001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875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Rₑ、tₑ：相機外參；R(t)、p(t)：設備世界位姿</a:t>
            </a:r>
          </a:p>
        </p:txBody>
      </p:sp>
      <p:sp>
        <p:nvSpPr>
          <p:cNvPr id="6" name="使用 tₚ ≠ t꜀ 的設備姿態，會改變">
            <a:extLst>
              <a:ext uri="{FF2B5EF4-FFF2-40B4-BE49-F238E27FC236}">
                <a16:creationId xmlns:a16="http://schemas.microsoft.com/office/drawing/2014/main" id="{32BFCCE4-B741-4D1E-B152-185C9C08A10A}"/>
              </a:ext>
            </a:extLst>
          </p:cNvPr>
          <p:cNvSpPr>
            <a:spLocks noGrp="1"/>
          </p:cNvSpPr>
          <p:nvPr/>
        </p:nvSpPr>
        <p:spPr>
          <a:xfrm>
            <a:off x="619125" y="4619625"/>
            <a:ext cx="8001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9F0000"/>
                </a:solidFill>
                <a:latin typeface="標楷體"/>
                <a:ea typeface="標楷體"/>
                <a:cs typeface="標楷體"/>
              </a:rPr>
              <a:t>使用 tₚ ≠ t꜀ 的設備姿態，會改變螺絲世界座標</a:t>
            </a:r>
          </a:p>
        </p:txBody>
      </p:sp>
      <p:sp>
        <p:nvSpPr>
          <p:cNvPr id="7" name="座標符號與推導沿用上次報告；本次增加時間">
            <a:extLst>
              <a:ext uri="{FF2B5EF4-FFF2-40B4-BE49-F238E27FC236}">
                <a16:creationId xmlns:a16="http://schemas.microsoft.com/office/drawing/2014/main" id="{DAB34985-50B3-4FD3-817D-3CEB95BAE9EC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座標符號與推導沿用上次報告；本次增加時間索引</a:t>
            </a:r>
          </a:p>
        </p:txBody>
      </p:sp>
    </p:spTree>
    <p:extLst>
      <p:ext uri="{BB962C8B-B14F-4D97-AF65-F5344CB8AC3E}">
        <p14:creationId xmlns:p14="http://schemas.microsoft.com/office/powerpoint/2010/main" val="17035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F70596-8BEA-4402-8CF3-4884BA055E0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同幀系統實作範圍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7259806-13EF-48F0-890E-418575F8283B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狀態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內容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共用 sessionId／frameId 的 RGB-D 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深度反投影、pose 插值、世界座標量測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已實作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原始封包、逐幀結果與異常狀態儲存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已串接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Hungarian、螺絲融合、前端與同步回放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待驗證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真實相機、YOLO、跨設備時鐘及外參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030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4161096-E52E-4C7B-B2B8-3EDEFF89E503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RGB-D 封包與資料追溯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29B2B97-9E2C-47FA-9FA2-B834263DFE15}"/>
              </a:ext>
            </a:extLst>
          </p:cNvPr>
          <p:cNvGraphicFramePr/>
          <p:nvPr/>
        </p:nvGraphicFramePr>
        <p:xfrm>
          <a:off x="571500" y="1619250"/>
          <a:ext cx="8001000" cy="390525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用途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operationId、sessionId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frameId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識別一次操作中的同一組 RGB-D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color／depth CaptureTimeNs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檢查擷取時間差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clockId、calibrationId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追蹤時鐘與校正設定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JPEG ＋ uint16 PNG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彩色影像與原始深度共同傳輸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raw packet ＋ rgbdframes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逐幀追溯與異常原因保存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525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F7D19B5A-F411-4160-BB74-DEF14C0C8BA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pose 時間對齊與拒絕條件</a:t>
            </a:r>
          </a:p>
        </p:txBody>
      </p:sp>
      <p:sp>
        <p:nvSpPr>
          <p:cNvPr id="2" name="α = (t꜀ − t₀) / (t₁ ">
            <a:extLst>
              <a:ext uri="{FF2B5EF4-FFF2-40B4-BE49-F238E27FC236}">
                <a16:creationId xmlns:a16="http://schemas.microsoft.com/office/drawing/2014/main" id="{D15B0E22-F859-430B-811E-D6A7A40C6E88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α = (t꜀ − t₀) / (t₁ − t₀)</a:t>
            </a:r>
          </a:p>
        </p:txBody>
      </p:sp>
      <p:sp>
        <p:nvSpPr>
          <p:cNvPr id="3" name="p(t꜀) = (1 − α)p(t₀)">
            <a:extLst>
              <a:ext uri="{FF2B5EF4-FFF2-40B4-BE49-F238E27FC236}">
                <a16:creationId xmlns:a16="http://schemas.microsoft.com/office/drawing/2014/main" id="{9B2B3D42-6660-44FA-BBDA-C3D373EF0347}"/>
              </a:ext>
            </a:extLst>
          </p:cNvPr>
          <p:cNvSpPr>
            <a:spLocks noGrp="1"/>
          </p:cNvSpPr>
          <p:nvPr/>
        </p:nvSpPr>
        <p:spPr>
          <a:xfrm>
            <a:off x="619125" y="228600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p(t꜀) = (1 − α)p(t₀) + αp(t₁)</a:t>
            </a:r>
          </a:p>
        </p:txBody>
      </p:sp>
      <p:sp>
        <p:nvSpPr>
          <p:cNvPr id="4" name="q(t꜀) = SLERP(q(t₀),">
            <a:extLst>
              <a:ext uri="{FF2B5EF4-FFF2-40B4-BE49-F238E27FC236}">
                <a16:creationId xmlns:a16="http://schemas.microsoft.com/office/drawing/2014/main" id="{B9A8CD1D-B1CC-4844-BE5E-F5D409F2EF92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7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q(t꜀) = SLERP(q(t₀), q(t₁), α)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7C571AE-2790-48E4-8276-D8CE92D273FE}"/>
              </a:ext>
            </a:extLst>
          </p:cNvPr>
          <p:cNvGraphicFramePr/>
          <p:nvPr/>
        </p:nvGraphicFramePr>
        <p:xfrm>
          <a:off x="571500" y="4048125"/>
          <a:ext cx="8001000" cy="11906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時間差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最大間隔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等候時間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200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≤ 100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無有效資料時拒絕更新；不以最新 pose">
            <a:extLst>
              <a:ext uri="{FF2B5EF4-FFF2-40B4-BE49-F238E27FC236}">
                <a16:creationId xmlns:a16="http://schemas.microsoft.com/office/drawing/2014/main" id="{5B75BFC3-CE5A-4DA9-95C1-5E6A8A9A764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無有效資料時拒絕更新；不以最新 pose 強行外推</a:t>
            </a:r>
          </a:p>
        </p:txBody>
      </p:sp>
    </p:spTree>
    <p:extLst>
      <p:ext uri="{BB962C8B-B14F-4D97-AF65-F5344CB8AC3E}">
        <p14:creationId xmlns:p14="http://schemas.microsoft.com/office/powerpoint/2010/main" val="69689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8E76DEE-6172-418F-9ABE-676CA1F92E5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同幀螺絲關聯與融合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AE98179-D34D-4B3F-9B51-34382719903A}"/>
              </a:ext>
            </a:extLst>
          </p:cNvPr>
          <p:cNvGraphicFramePr/>
          <p:nvPr/>
        </p:nvGraphicFramePr>
        <p:xfrm>
          <a:off x="571500" y="1619250"/>
          <a:ext cx="8001000" cy="3857625"/>
        </p:xfrm>
        <a:graphic>
          <a:graphicData uri="http://schemas.openxmlformats.org/drawingml/2006/table">
            <a:tbl>
              <a:tblPr/>
              <a:tblGrid>
                <a:gridCol w="1952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階段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新增實作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世界座標量測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使用該幀深度、外參與時間對齊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Hungarian 關聯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距離門檻 0.8 m，已知類別須相符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保留未配對觀測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螺絲融合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平均法、EKF、ES-EKF、RMV-FGO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每顆螺絲最近 60 筆觀測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同幀儲存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原始量測、設備 pose、四種融合結果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91E1C47-09EE-4365-92D2-4EA07AD8EEAF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全程沿用 operationId、sessionId、frameId</a:t>
            </a:r>
          </a:p>
        </p:txBody>
      </p:sp>
    </p:spTree>
    <p:extLst>
      <p:ext uri="{BB962C8B-B14F-4D97-AF65-F5344CB8AC3E}">
        <p14:creationId xmlns:p14="http://schemas.microsoft.com/office/powerpoint/2010/main" val="1191884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8675D0C-5157-4AE9-B07A-0887289FB789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影像與 3D 同步回放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2FA78FB-1AA6-4269-9E01-2A3FF6B8B293}"/>
              </a:ext>
            </a:extLst>
          </p:cNvPr>
          <p:cNvGraphicFramePr/>
          <p:nvPr/>
        </p:nvGraphicFramePr>
        <p:xfrm>
          <a:off x="571500" y="1619250"/>
          <a:ext cx="8001000" cy="3381375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即時模式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歷史模式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顯示來源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最新完整同幀紀錄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資料庫與原始封包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暫停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畫面停止，後端繼續儲存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影像與定位資料完全停止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恢復／拖曳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恢復到最新完整幀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續播或查詢對應擷取時間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光學／深度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維持相同 frame ID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EE79275F-0565-486F-B174-2DFFD0C26815}"/>
              </a:ext>
            </a:extLst>
          </p:cNvPr>
          <p:cNvSpPr>
            <a:spLocks noGrp="1"/>
          </p:cNvSpPr>
          <p:nvPr/>
        </p:nvSpPr>
        <p:spPr>
          <a:xfrm>
            <a:off x="619125" y="51816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9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9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回放時間 = 本幀擷取時間 − session 首幀擷取時間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645A9A-5D05-4B3E-8202-57795E567E6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使用封包影像回放；獨立 RTSP MP4 尚未建立 PTS 對照</a:t>
            </a:r>
          </a:p>
        </p:txBody>
      </p:sp>
    </p:spTree>
    <p:extLst>
      <p:ext uri="{BB962C8B-B14F-4D97-AF65-F5344CB8AC3E}">
        <p14:creationId xmlns:p14="http://schemas.microsoft.com/office/powerpoint/2010/main" val="32364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5CA9B9C-6C33-4E9B-AC83-0D7F47AEDA1F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寫入一致性與斷線恢復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BF8080C-8C69-48AE-A47A-9F6E7FF08A44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情況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重送同一幀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唯一鍵去重，沿用原辨識快照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資料庫暫時失敗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本機 journal 保留，依幀序補寫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短暫斷線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 session 重連，確認已提交幀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操作已結束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僅補寫結束前已留存的本機紀錄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C7688AE5-04C3-4070-A56F-2C927B5720E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 Node 部署；後端在途請求上限 2，超量回覆重試</a:t>
            </a:r>
          </a:p>
        </p:txBody>
      </p:sp>
    </p:spTree>
    <p:extLst>
      <p:ext uri="{BB962C8B-B14F-4D97-AF65-F5344CB8AC3E}">
        <p14:creationId xmlns:p14="http://schemas.microsoft.com/office/powerpoint/2010/main" val="148859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4A98B16-9D50-4B02-A149-967DF48825A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軟體整合驗證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36B311F-2456-4507-8AB1-D03999DC0CAA}"/>
              </a:ext>
            </a:extLst>
          </p:cNvPr>
          <p:cNvGraphicFramePr/>
          <p:nvPr/>
        </p:nvGraphicFramePr>
        <p:xfrm>
          <a:off x="571500" y="1619250"/>
          <a:ext cx="8001000" cy="37147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Python 協定／幾何測試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10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Node／Mongo 整合測試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 個通過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幀合成資料串接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40 筆設備軌跡，35 筆有效螺絲觀測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四種融合結果與光學／深度可讀取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結束後補寫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額外 1 幀失敗 journal 成功恢復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52BEFC8-D7F6-4DC4-A699-0EC29F4C3A52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165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功能驗收採合成輸入；不代表硬體定位精度或新版 FPS</a:t>
            </a:r>
          </a:p>
        </p:txBody>
      </p:sp>
    </p:spTree>
    <p:extLst>
      <p:ext uri="{BB962C8B-B14F-4D97-AF65-F5344CB8AC3E}">
        <p14:creationId xmlns:p14="http://schemas.microsoft.com/office/powerpoint/2010/main" val="1325904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03624A8-F700-4E1F-885D-67226453A63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同步策略比較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E655DC8-16C0-436A-A801-1C6492421247}"/>
              </a:ext>
            </a:extLst>
          </p:cNvPr>
          <p:cNvGraphicFramePr/>
          <p:nvPr/>
        </p:nvGraphicFramePr>
        <p:xfrm>
          <a:off x="571500" y="1619250"/>
          <a:ext cx="8001000" cy="2952752"/>
        </p:xfrm>
        <a:graphic>
          <a:graphicData uri="http://schemas.openxmlformats.org/drawingml/2006/table">
            <a:tbl>
              <a:tblPr/>
              <a:tblGrid>
                <a:gridCol w="809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策略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配對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設備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傳送方式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A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獨立緩衝各取一幀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兩通道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B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同一封包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最新一筆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同包＋時間差檢查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擷取時間插值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單筆在途＋ACK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共享隨機 trace；比較同步策略，不比">
            <a:extLst>
              <a:ext uri="{FF2B5EF4-FFF2-40B4-BE49-F238E27FC236}">
                <a16:creationId xmlns:a16="http://schemas.microsoft.com/office/drawing/2014/main" id="{3B8D4154-32BC-4E27-8763-B9DFE5CC3276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共享隨機 trace；比較同步策略，不比較 EKF／RMV-FGO</a:t>
            </a:r>
          </a:p>
        </p:txBody>
      </p:sp>
    </p:spTree>
    <p:extLst>
      <p:ext uri="{BB962C8B-B14F-4D97-AF65-F5344CB8AC3E}">
        <p14:creationId xmlns:p14="http://schemas.microsoft.com/office/powerpoint/2010/main" val="1119906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E7DFBC9-3072-4C7F-9E0A-9EAAF8479B36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離散事件模擬設定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A952203-E5AE-47BC-BC6A-F8C569548BD7}"/>
              </a:ext>
            </a:extLst>
          </p:cNvPr>
          <p:cNvGraphicFramePr/>
          <p:nvPr/>
        </p:nvGraphicFramePr>
        <p:xfrm>
          <a:off x="571500" y="1619250"/>
          <a:ext cx="8001000" cy="38100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設定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重複實驗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21 情境 × 30 trials × 3 策略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觀測時間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每 trial 120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來源更新率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影像 10／20／30 FPS，pose 50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擾動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延遲、缺幀、pose 中斷、過載、時鐘偏差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幾何與深度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移動設備、固定螺絲、逐幀射線與平面求交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模型參數是敏感度測試假設，尚非實測場域標">
            <a:extLst>
              <a:ext uri="{FF2B5EF4-FFF2-40B4-BE49-F238E27FC236}">
                <a16:creationId xmlns:a16="http://schemas.microsoft.com/office/drawing/2014/main" id="{03AF82D6-1411-47E0-B883-9CA5E34553A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模型參數是敏感度測試假設，尚非實測場域標定</a:t>
            </a:r>
          </a:p>
        </p:txBody>
      </p:sp>
    </p:spTree>
    <p:extLst>
      <p:ext uri="{BB962C8B-B14F-4D97-AF65-F5344CB8AC3E}">
        <p14:creationId xmlns:p14="http://schemas.microsoft.com/office/powerpoint/2010/main" val="1398305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3C73492-45CD-4FF0-B8ED-D67E507AEE00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評估指標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FA7D856-399B-47F4-96F6-9156FD0C381B}"/>
              </a:ext>
            </a:extLst>
          </p:cNvPr>
          <p:cNvGraphicFramePr/>
          <p:nvPr/>
        </p:nvGraphicFramePr>
        <p:xfrm>
          <a:off x="571500" y="1619250"/>
          <a:ext cx="8001000" cy="3857628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指標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錯誤 RGB-D 配對／有效定位輸出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覆蓋率、更新率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有效輸出／擷取幀數；每秒有效輸出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端到端延遲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處理寫入完成時間 − 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資訊年齡 AoI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現在時間 − 最新結果的擷取時間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定位誤差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估計螺絲位置與真值的三維距離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404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324B5DE-BD17-4899-A1C7-0B97C05BC7E2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掉幀下的配對與覆蓋率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A1227B0B-D2B3-4DF0-BF1D-34E27BEB9D80}"/>
              </a:ext>
            </a:extLst>
          </p:cNvPr>
          <p:cNvGraphicFramePr/>
          <p:nvPr/>
        </p:nvGraphicFramePr>
        <p:xfrm>
          <a:off x="45720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C1DABC44-7461-482D-943A-E716960175D0}"/>
              </a:ext>
            </a:extLst>
          </p:cNvPr>
          <p:cNvGraphicFramePr/>
          <p:nvPr/>
        </p:nvGraphicFramePr>
        <p:xfrm>
          <a:off x="4667250" y="1809750"/>
          <a:ext cx="4048125" cy="338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10% 遺失：C 錯配率 0%，但有效覆">
            <a:extLst>
              <a:ext uri="{FF2B5EF4-FFF2-40B4-BE49-F238E27FC236}">
                <a16:creationId xmlns:a16="http://schemas.microsoft.com/office/drawing/2014/main" id="{1F6CC6F6-5E72-4A0B-AE8F-CB994661E3D1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10% 遺失：C 錯配率 0%，但有效覆蓋率為 67.73%</a:t>
            </a:r>
          </a:p>
        </p:txBody>
      </p:sp>
    </p:spTree>
    <p:extLst>
      <p:ext uri="{BB962C8B-B14F-4D97-AF65-F5344CB8AC3E}">
        <p14:creationId xmlns:p14="http://schemas.microsoft.com/office/powerpoint/2010/main" val="123771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A58A131-CF27-4D71-9BD1-FD9D7CBEFAD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螺絲定位誤差比較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F3F4C5D3-0382-4A43-8FB9-BF3B56396D35}"/>
              </a:ext>
            </a:extLst>
          </p:cNvPr>
          <p:cNvGraphicFramePr/>
          <p:nvPr/>
        </p:nvGraphicFramePr>
        <p:xfrm>
          <a:off x="619125" y="1857375"/>
          <a:ext cx="790575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50 ms 深度延遲＋感測雜訊：C 相較">
            <a:extLst>
              <a:ext uri="{FF2B5EF4-FFF2-40B4-BE49-F238E27FC236}">
                <a16:creationId xmlns:a16="http://schemas.microsoft.com/office/drawing/2014/main" id="{70947B2D-B3C9-414D-8185-81483A2E7123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50 ms 深度延遲＋感測雜訊：C 相較 A 約改善 11%</a:t>
            </a:r>
          </a:p>
        </p:txBody>
      </p:sp>
    </p:spTree>
    <p:extLst>
      <p:ext uri="{BB962C8B-B14F-4D97-AF65-F5344CB8AC3E}">
        <p14:creationId xmlns:p14="http://schemas.microsoft.com/office/powerpoint/2010/main" val="1511248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1453DFEF-AEEC-4E4F-AFD8-5DE42563C58A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有效更新率與延遲代價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C2821DFF-73C9-4746-BADF-6716DF05F97C}"/>
              </a:ext>
            </a:extLst>
          </p:cNvPr>
          <p:cNvGraphicFramePr/>
          <p:nvPr/>
        </p:nvGraphicFramePr>
        <p:xfrm>
          <a:off x="45720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84DF66EC-692D-4941-BDC2-A736C3E1C8C0}"/>
              </a:ext>
            </a:extLst>
          </p:cNvPr>
          <p:cNvGraphicFramePr/>
          <p:nvPr/>
        </p:nvGraphicFramePr>
        <p:xfrm>
          <a:off x="4667250" y="1857375"/>
          <a:ext cx="4048125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同步正確性提升，同時暴露單筆 ACK 的">
            <a:extLst>
              <a:ext uri="{FF2B5EF4-FFF2-40B4-BE49-F238E27FC236}">
                <a16:creationId xmlns:a16="http://schemas.microsoft.com/office/drawing/2014/main" id="{B8C9C014-FF58-4F3A-8514-CA0CD692C277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同步正確性提升，同時暴露單筆 ACK 的吞吐瓶頸</a:t>
            </a:r>
          </a:p>
        </p:txBody>
      </p:sp>
    </p:spTree>
    <p:extLst>
      <p:ext uri="{BB962C8B-B14F-4D97-AF65-F5344CB8AC3E}">
        <p14:creationId xmlns:p14="http://schemas.microsoft.com/office/powerpoint/2010/main" val="1927946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4665A3-8A11-4D41-B970-8D3E4B17FA38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定位誤差累積分布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92F46895-AF46-48BC-ABB5-5B21A7EA8D04}"/>
              </a:ext>
            </a:extLst>
          </p:cNvPr>
          <p:cNvGraphicFramePr/>
          <p:nvPr/>
        </p:nvGraphicFramePr>
        <p:xfrm>
          <a:off x="619125" y="1666875"/>
          <a:ext cx="79057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含感測雜訊、深度延遲 50 ms；代表性">
            <a:extLst>
              <a:ext uri="{FF2B5EF4-FFF2-40B4-BE49-F238E27FC236}">
                <a16:creationId xmlns:a16="http://schemas.microsoft.com/office/drawing/2014/main" id="{2B23E7C0-30EA-4332-93A0-1416874F0ECD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含感測雜訊、深度延遲 50 ms；代表性 trial 0</a:t>
            </a:r>
          </a:p>
        </p:txBody>
      </p:sp>
    </p:spTree>
    <p:extLst>
      <p:ext uri="{BB962C8B-B14F-4D97-AF65-F5344CB8AC3E}">
        <p14:creationId xmlns:p14="http://schemas.microsoft.com/office/powerpoint/2010/main" val="864266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5BE212B-254F-4DEA-BD27-36BF35EAF1D1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時鐘偏差的影響</a:t>
            </a:r>
          </a:p>
        </p:txBody>
      </p:sp>
      <p:graphicFrame>
        <p:nvGraphicFramePr>
          <p:cNvPr id="2" name="Chart">
            <a:extLst>
              <a:ext uri="{FF2B5EF4-FFF2-40B4-BE49-F238E27FC236}">
                <a16:creationId xmlns:a16="http://schemas.microsoft.com/office/drawing/2014/main" id="{B53DCC41-A0DC-4DF7-9132-1CDA6C45A742}"/>
              </a:ext>
            </a:extLst>
          </p:cNvPr>
          <p:cNvGraphicFramePr/>
          <p:nvPr/>
        </p:nvGraphicFramePr>
        <p:xfrm>
          <a:off x="619125" y="1762125"/>
          <a:ext cx="7905750" cy="3476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 在 50 ms 時鐘偏差下仍有 2.">
            <a:extLst>
              <a:ext uri="{FF2B5EF4-FFF2-40B4-BE49-F238E27FC236}">
                <a16:creationId xmlns:a16="http://schemas.microsoft.com/office/drawing/2014/main" id="{2A734267-4CD4-42D0-9FDA-4694AFC5682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C 在 50 ms 時鐘偏差下仍有 2.88 cm 平均誤差</a:t>
            </a:r>
          </a:p>
        </p:txBody>
      </p:sp>
    </p:spTree>
    <p:extLst>
      <p:ext uri="{BB962C8B-B14F-4D97-AF65-F5344CB8AC3E}">
        <p14:creationId xmlns:p14="http://schemas.microsoft.com/office/powerpoint/2010/main" val="1570499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3C47036-3B28-488C-90FD-67E22818B63B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異常資料的拒絕與可用性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B2B26F7-AB05-418B-8BEF-A2FD231F96C6}"/>
              </a:ext>
            </a:extLst>
          </p:cNvPr>
          <p:cNvGraphicFramePr/>
          <p:nvPr/>
        </p:nvGraphicFramePr>
        <p:xfrm>
          <a:off x="571500" y="1619250"/>
          <a:ext cx="8001000" cy="3190876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77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情境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C 的結果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意義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RGB-D 擷取差 30 ms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0%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拒絕不同步資料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pose 每次中斷 1 秒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覆蓋率 57.75%</a:t>
                      </a:r>
                    </a:p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AoI 約 1.02 秒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不外推過期 pose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77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處理時間為幀間隔 2 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有效更新率 6.96 Hz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背壓限制吞吐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沒有有效樣本時，定位誤差不能記為 0">
            <a:extLst>
              <a:ext uri="{FF2B5EF4-FFF2-40B4-BE49-F238E27FC236}">
                <a16:creationId xmlns:a16="http://schemas.microsoft.com/office/drawing/2014/main" id="{60833FA2-E870-4F42-90FD-2ACCAF9DC12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沒有有效樣本時，定位誤差不能記為 0</a:t>
            </a:r>
          </a:p>
        </p:txBody>
      </p:sp>
    </p:spTree>
    <p:extLst>
      <p:ext uri="{BB962C8B-B14F-4D97-AF65-F5344CB8AC3E}">
        <p14:creationId xmlns:p14="http://schemas.microsoft.com/office/powerpoint/2010/main" val="47956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5E2F451F-4076-4271-9454-14BACA07869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本機編解碼與儲存量測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1AAD2E8-046E-4B4E-979C-913CB4679E7F}"/>
              </a:ext>
            </a:extLst>
          </p:cNvPr>
          <p:cNvGraphicFramePr/>
          <p:nvPr/>
        </p:nvGraphicFramePr>
        <p:xfrm>
          <a:off x="571500" y="1619250"/>
          <a:ext cx="8001000" cy="295275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05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量測項目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平滑深度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帶雜訊深度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平均編碼時間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2.75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4.30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平均解碼時間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2.49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3.22 ms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平均封包大小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93.5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254.9 KiB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20 FPS payload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15.33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41.76 Mbit/s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HTTP＋MongoDB：平均 4.26">
            <a:extLst>
              <a:ext uri="{FF2B5EF4-FFF2-40B4-BE49-F238E27FC236}">
                <a16:creationId xmlns:a16="http://schemas.microsoft.com/office/drawing/2014/main" id="{28A95214-6C6F-492A-AA46-75A75CE2F765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7905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10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HTTP＋MongoDB：平均 4.26 ms，P95 7.15 ms</a:t>
            </a:r>
          </a:p>
        </p:txBody>
      </p:sp>
      <p:sp>
        <p:nvSpPr>
          <p:cNvPr id="4" name="本機微基準，不包含模型與真正的端到端影像">
            <a:extLst>
              <a:ext uri="{FF2B5EF4-FFF2-40B4-BE49-F238E27FC236}">
                <a16:creationId xmlns:a16="http://schemas.microsoft.com/office/drawing/2014/main" id="{462F9DEA-0D66-43C5-AD1F-40A0CD649479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本機微基準，不包含模型與真正的端到端影像顯示</a:t>
            </a:r>
          </a:p>
        </p:txBody>
      </p:sp>
    </p:spTree>
    <p:extLst>
      <p:ext uri="{BB962C8B-B14F-4D97-AF65-F5344CB8AC3E}">
        <p14:creationId xmlns:p14="http://schemas.microsoft.com/office/powerpoint/2010/main" val="1237189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EABAE6C6-20F4-497E-A33C-7C62050932FE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結果限制與驗證邊界</a:t>
            </a:r>
          </a:p>
        </p:txBody>
      </p:sp>
      <p:sp>
        <p:nvSpPr>
          <p:cNvPr id="2" name="舊雙通道緩衝行為仍需以真實 trace ">
            <a:extLst>
              <a:ext uri="{FF2B5EF4-FFF2-40B4-BE49-F238E27FC236}">
                <a16:creationId xmlns:a16="http://schemas.microsoft.com/office/drawing/2014/main" id="{36E8BE66-48D1-45A1-8585-12C537861350}"/>
              </a:ext>
            </a:extLst>
          </p:cNvPr>
          <p:cNvSpPr>
            <a:spLocks noGrp="1"/>
          </p:cNvSpPr>
          <p:nvPr/>
        </p:nvSpPr>
        <p:spPr>
          <a:xfrm>
            <a:off x="619125" y="1600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舊雙通道緩衝行為仍需以真實 trace 校正</a:t>
            </a:r>
          </a:p>
        </p:txBody>
      </p:sp>
      <p:sp>
        <p:nvSpPr>
          <p:cNvPr id="3" name="單一牆面螺絲、已知外參，尚無遮擋與模型誤">
            <a:extLst>
              <a:ext uri="{FF2B5EF4-FFF2-40B4-BE49-F238E27FC236}">
                <a16:creationId xmlns:a16="http://schemas.microsoft.com/office/drawing/2014/main" id="{599F3A0B-C630-43B8-9FE7-8A5F7E7B30E3}"/>
              </a:ext>
            </a:extLst>
          </p:cNvPr>
          <p:cNvSpPr>
            <a:spLocks noGrp="1"/>
          </p:cNvSpPr>
          <p:nvPr/>
        </p:nvSpPr>
        <p:spPr>
          <a:xfrm>
            <a:off x="619125" y="2552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單一牆面螺絲、已知外參，尚無遮擋與模型誤檢</a:t>
            </a:r>
          </a:p>
        </p:txBody>
      </p:sp>
      <p:sp>
        <p:nvSpPr>
          <p:cNvPr id="4" name="感測與網路參數以工程假設進行敏感度分析">
            <a:extLst>
              <a:ext uri="{FF2B5EF4-FFF2-40B4-BE49-F238E27FC236}">
                <a16:creationId xmlns:a16="http://schemas.microsoft.com/office/drawing/2014/main" id="{71D2D570-5116-45A4-9DC3-B3CBBDAD09D3}"/>
              </a:ext>
            </a:extLst>
          </p:cNvPr>
          <p:cNvSpPr>
            <a:spLocks noGrp="1"/>
          </p:cNvSpPr>
          <p:nvPr/>
        </p:nvSpPr>
        <p:spPr>
          <a:xfrm>
            <a:off x="619125" y="35052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感測與網路參數以工程假設進行敏感度分析</a:t>
            </a:r>
          </a:p>
        </p:txBody>
      </p:sp>
      <p:sp>
        <p:nvSpPr>
          <p:cNvPr id="5" name="新通道尚未接入關聯、融合及前端逐幀播放">
            <a:extLst>
              <a:ext uri="{FF2B5EF4-FFF2-40B4-BE49-F238E27FC236}">
                <a16:creationId xmlns:a16="http://schemas.microsoft.com/office/drawing/2014/main" id="{1B3D3755-9F94-413B-A7C8-00779CDE5F04}"/>
              </a:ext>
            </a:extLst>
          </p:cNvPr>
          <p:cNvSpPr>
            <a:spLocks noGrp="1"/>
          </p:cNvSpPr>
          <p:nvPr/>
        </p:nvSpPr>
        <p:spPr>
          <a:xfrm>
            <a:off x="619125" y="4457700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軟體整合已完成，硬體精度與長時間測試待驗證</a:t>
            </a:r>
          </a:p>
        </p:txBody>
      </p:sp>
    </p:spTree>
    <p:extLst>
      <p:ext uri="{BB962C8B-B14F-4D97-AF65-F5344CB8AC3E}">
        <p14:creationId xmlns:p14="http://schemas.microsoft.com/office/powerpoint/2010/main" val="1780616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DC53414-A3E2-4442-B809-B4840B6CF57C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Future work</a:t>
            </a:r>
            <a:r>
              <a:rPr>
                <a:latin typeface="標楷體"/>
                <a:ea typeface="標楷體"/>
                <a:cs typeface="標楷體"/>
              </a:rPr>
              <a:t>：系統驗證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D87B61E-1C09-4AE8-BC2C-9167FC300288}"/>
              </a:ext>
            </a:extLst>
          </p:cNvPr>
          <p:cNvGraphicFramePr/>
          <p:nvPr/>
        </p:nvGraphicFramePr>
        <p:xfrm>
          <a:off x="571500" y="1619250"/>
          <a:ext cx="8001000" cy="3429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優先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工作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驗收方式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P0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新版系統端到端量測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長時間、掉線與壅塞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P95 延遲、AoI、FPS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有界並行處理，容量</a:t>
                      </a:r>
                      <a:r>
                        <a:rPr sz="1800" b="0" dirty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 1／2／4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比較 P95、AoI、覆蓋率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並維持零跨幀錯配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P1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實際 pose 與邊緣相機串接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確認時鐘、座標、深度尺度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  <a:p>
                      <a:r>
                        <a:rPr sz="1800" b="0" dirty="0" err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與內外參資料</a:t>
                      </a:r>
                      <a:endParaRPr sz="1800" b="0" dirty="0">
                        <a:solidFill>
                          <a:srgbClr val="000000"/>
                        </a:solidFill>
                        <a:latin typeface="標楷體"/>
                        <a:ea typeface="標楷體"/>
                        <a:cs typeface="標楷體"/>
                      </a:endParaRP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先完成軟體可追溯驗收，再進入場域量測">
            <a:extLst>
              <a:ext uri="{FF2B5EF4-FFF2-40B4-BE49-F238E27FC236}">
                <a16:creationId xmlns:a16="http://schemas.microsoft.com/office/drawing/2014/main" id="{007EB214-8EF7-4588-BAD4-3BF56D320850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先量測新版完整路徑，再比較有界並行處理</a:t>
            </a:r>
          </a:p>
        </p:txBody>
      </p:sp>
    </p:spTree>
    <p:extLst>
      <p:ext uri="{BB962C8B-B14F-4D97-AF65-F5344CB8AC3E}">
        <p14:creationId xmlns:p14="http://schemas.microsoft.com/office/powerpoint/2010/main" val="1371189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A5E0DB-A0B1-4648-8AD5-A0892F1E1CDD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 work：螺絲定位研究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55B0A22-A731-4EFE-A2AA-12BB619479B7}"/>
              </a:ext>
            </a:extLst>
          </p:cNvPr>
          <p:cNvGraphicFramePr/>
          <p:nvPr/>
        </p:nvGraphicFramePr>
        <p:xfrm>
          <a:off x="571500" y="1619250"/>
          <a:ext cx="8001000" cy="3476624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915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方向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要回答的問題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評估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>
                      <a:solidFill>
                        <a:srgbClr val="888888"/>
                      </a:solidFill>
                      <a:prstDash val="soli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時間不確定度加權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不同步量測應如何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降低融合權重？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誤差、置信度校準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非同步融合消融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對齊、加權與 robust loss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各自貢獻多少？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相同觀測與運算預算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15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關聯＋融合驗證</a:t>
                      </a:r>
                    </a:p>
                  </a:txBody>
                  <a:tcPr marL="85725" marR="85725" marT="47625" marB="47625" anchor="ctr">
                    <a:lnL w="6191">
                      <a:solidFill>
                        <a:srgbClr val="888888"/>
                      </a:solidFill>
                      <a:prstDash val="soli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同類螺絲／遮擋下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能否維持正確 ID？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錯配率、漏配率、</a:t>
                      </a:r>
                    </a:p>
                    <a:p>
                      <a:r>
                        <a:rPr sz="1800" b="0">
                          <a:solidFill>
                            <a:srgbClr val="000000"/>
                          </a:solidFill>
                          <a:latin typeface="標楷體"/>
                          <a:ea typeface="標楷體"/>
                          <a:cs typeface="標楷體"/>
                        </a:rPr>
                        <a:t>螺絲定位誤差</a:t>
                      </a:r>
                    </a:p>
                  </a:txBody>
                  <a:tcPr marL="85725" marR="85725" marT="47625" marB="47625" anchor="ctr">
                    <a:lnL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191">
                      <a:solidFill>
                        <a:srgbClr val="888888"/>
                      </a:solidFill>
                      <a:prstDash val="solid"/>
                    </a:lnR>
                    <a:lnT w="6191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191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研究假設待驗證，不預先宣稱方法新穎或必然">
            <a:extLst>
              <a:ext uri="{FF2B5EF4-FFF2-40B4-BE49-F238E27FC236}">
                <a16:creationId xmlns:a16="http://schemas.microsoft.com/office/drawing/2014/main" id="{C746B9D1-2999-4ADC-B848-817DDC68015B}"/>
              </a:ext>
            </a:extLst>
          </p:cNvPr>
          <p:cNvSpPr>
            <a:spLocks noGrp="1"/>
          </p:cNvSpPr>
          <p:nvPr/>
        </p:nvSpPr>
        <p:spPr>
          <a:xfrm>
            <a:off x="590550" y="5753100"/>
            <a:ext cx="7905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defRPr>
            </a:pPr>
            <a:r>
              <a:rPr sz="1650" b="0">
                <a:solidFill>
                  <a:srgbClr val="333333"/>
                </a:solidFill>
                <a:latin typeface="標楷體"/>
                <a:ea typeface="標楷體"/>
                <a:cs typeface="標楷體"/>
              </a:rPr>
              <a:t>研究假設待驗證，不預先宣稱方法新穎或必然最佳</a:t>
            </a:r>
          </a:p>
        </p:txBody>
      </p:sp>
    </p:spTree>
    <p:extLst>
      <p:ext uri="{BB962C8B-B14F-4D97-AF65-F5344CB8AC3E}">
        <p14:creationId xmlns:p14="http://schemas.microsoft.com/office/powerpoint/2010/main" val="1604375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A9E548A9-7225-408E-86F3-AA9B47A2DFB5}"/>
              </a:ext>
            </a:extLst>
          </p:cNvPr>
          <p:cNvSpPr>
            <a:spLocks noGrp="1"/>
          </p:cNvSpPr>
          <p:nvPr/>
        </p:nvSpPr>
        <p:spPr>
          <a:xfrm>
            <a:off x="1143000" y="400050"/>
            <a:ext cx="71437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ctr">
              <a:buNone/>
              <a:defRPr sz="31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結論與</a:t>
            </a:r>
            <a:r>
              <a:rPr lang="en-US" altLang="zh-TW" sz="3150" b="0" dirty="0" err="1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Future</a:t>
            </a:r>
            <a:r>
              <a:rPr lang="en-US" altLang="zh-TW" sz="3150" b="0" dirty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 work</a:t>
            </a:r>
            <a:endParaRPr sz="3150" b="0" dirty="0">
              <a:solidFill>
                <a:srgbClr val="000000"/>
              </a:solidFill>
              <a:latin typeface="標楷體"/>
              <a:ea typeface="標楷體"/>
              <a:cs typeface="標楷體"/>
            </a:endParaRPr>
          </a:p>
        </p:txBody>
      </p:sp>
      <p:sp>
        <p:nvSpPr>
          <p:cNvPr id="2" name="已完成：RGB-D 同步核心、逐幀儲存與">
            <a:extLst>
              <a:ext uri="{FF2B5EF4-FFF2-40B4-BE49-F238E27FC236}">
                <a16:creationId xmlns:a16="http://schemas.microsoft.com/office/drawing/2014/main" id="{14AD0255-6C8E-4E89-86A4-C45E766F46AE}"/>
              </a:ext>
            </a:extLst>
          </p:cNvPr>
          <p:cNvSpPr>
            <a:spLocks noGrp="1"/>
          </p:cNvSpPr>
          <p:nvPr/>
        </p:nvSpPr>
        <p:spPr>
          <a:xfrm>
            <a:off x="619125" y="1571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已完成：同幀關聯、螺絲融合與同步回放</a:t>
            </a:r>
          </a:p>
        </p:txBody>
      </p:sp>
      <p:sp>
        <p:nvSpPr>
          <p:cNvPr id="3" name="主要結果：同步正確性改善，更新率存在代價">
            <a:extLst>
              <a:ext uri="{FF2B5EF4-FFF2-40B4-BE49-F238E27FC236}">
                <a16:creationId xmlns:a16="http://schemas.microsoft.com/office/drawing/2014/main" id="{6BF5C812-81F7-43DE-91FC-FD2F7FC34DA4}"/>
              </a:ext>
            </a:extLst>
          </p:cNvPr>
          <p:cNvSpPr>
            <a:spLocks noGrp="1"/>
          </p:cNvSpPr>
          <p:nvPr/>
        </p:nvSpPr>
        <p:spPr>
          <a:xfrm>
            <a:off x="619125" y="2524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主要結果：同步正確性改善，更新率存在代價</a:t>
            </a:r>
          </a:p>
        </p:txBody>
      </p:sp>
      <p:sp>
        <p:nvSpPr>
          <p:cNvPr id="4" name="近期交付：同幀可視化與有界並行處理比較">
            <a:extLst>
              <a:ext uri="{FF2B5EF4-FFF2-40B4-BE49-F238E27FC236}">
                <a16:creationId xmlns:a16="http://schemas.microsoft.com/office/drawing/2014/main" id="{1C20CE10-10F4-4011-8877-5E23B69008F3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>
                <a:latin typeface="標楷體"/>
                <a:ea typeface="標楷體"/>
                <a:cs typeface="標楷體"/>
              </a:rPr>
              <a:t>近期工作：完整路徑量測與有界並行處理比較</a:t>
            </a:r>
          </a:p>
        </p:txBody>
      </p:sp>
      <p:sp>
        <p:nvSpPr>
          <p:cNvPr id="5" name="硬體到位後：時鐘／外參校正與場域真值驗證">
            <a:extLst>
              <a:ext uri="{FF2B5EF4-FFF2-40B4-BE49-F238E27FC236}">
                <a16:creationId xmlns:a16="http://schemas.microsoft.com/office/drawing/2014/main" id="{E77A3419-42EC-44CF-A65B-2F1B549D6B23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790575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defPPr>
            <a:lvl1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1pPr>
            <a:lvl2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2pPr>
            <a:lvl3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3pPr>
            <a:lvl4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4pPr>
            <a:lvl5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5pPr>
            <a:lvl6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6pPr>
            <a:lvl7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7pPr>
            <a:lvl8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8pPr>
            <a:lvl9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lvl9pPr>
          </a:lstStyle>
          <a:p>
            <a:pPr algn="l">
              <a:buNone/>
              <a:def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defRPr>
            </a:pPr>
            <a:r>
              <a:rPr sz="2250" b="0">
                <a:solidFill>
                  <a:srgbClr val="000000"/>
                </a:solidFill>
                <a:latin typeface="標楷體"/>
                <a:ea typeface="標楷體"/>
                <a:cs typeface="標楷體"/>
              </a:rPr>
              <a:t>硬體到位後：時鐘／外參校正與場域真值驗證</a:t>
            </a:r>
          </a:p>
        </p:txBody>
      </p:sp>
    </p:spTree>
    <p:extLst>
      <p:ext uri="{BB962C8B-B14F-4D97-AF65-F5344CB8AC3E}">
        <p14:creationId xmlns:p14="http://schemas.microsoft.com/office/powerpoint/2010/main" val="1111458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 2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2565</Words>
  <Application>Microsoft Office PowerPoint</Application>
  <DocSecurity>0</DocSecurity>
  <PresentationFormat>如螢幕大小 (4:3)</PresentationFormat>
  <Paragraphs>348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8" baseType="lpstr">
      <vt:lpstr>標楷體</vt:lpstr>
      <vt:lpstr>Arial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子強 鄭</cp:lastModifiedBy>
  <cp:revision>2</cp:revision>
  <dcterms:created xsi:type="dcterms:W3CDTF">2026-10-18T18:43:55Z</dcterms:created>
  <dcterms:modified xsi:type="dcterms:W3CDTF">2026-10-19T10:15:56Z</dcterms:modified>
</cp:coreProperties>
</file>