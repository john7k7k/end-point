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172D2-1F40-4838-A2F3-5B5203E1DB7C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06D57-2B2B-4292-8788-9F5C4E34D5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583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本頁以目前程式為準。作業從 </a:t>
            </a:r>
            <a:r>
              <a:rPr lang="en-US" altLang="zh-TW"/>
              <a:t>MQTT vision/operation/start </a:t>
            </a:r>
            <a:r>
              <a:rPr lang="zh-TW" altLang="en-US"/>
              <a:t>開始，後端建立作業並通知 </a:t>
            </a:r>
            <a:r>
              <a:rPr lang="en-US" altLang="zh-TW"/>
              <a:t>AI</a:t>
            </a:r>
            <a:r>
              <a:rPr lang="zh-TW" altLang="en-US"/>
              <a:t>，再回覆包含 </a:t>
            </a:r>
            <a:r>
              <a:rPr lang="en-US" altLang="zh-TW"/>
              <a:t>requestId </a:t>
            </a:r>
            <a:r>
              <a:rPr lang="zh-TW" altLang="en-US"/>
              <a:t>與 </a:t>
            </a:r>
            <a:r>
              <a:rPr lang="en-US" altLang="zh-TW"/>
              <a:t>backendInstanceId </a:t>
            </a:r>
            <a:r>
              <a:rPr lang="zh-TW" altLang="en-US"/>
              <a:t>的 </a:t>
            </a:r>
            <a:r>
              <a:rPr lang="en-US" altLang="zh-TW"/>
              <a:t>ACK</a:t>
            </a:r>
            <a:r>
              <a:rPr lang="zh-TW" altLang="en-US"/>
              <a:t>。影像端在收到對應 </a:t>
            </a:r>
            <a:r>
              <a:rPr lang="en-US" altLang="zh-TW"/>
              <a:t>ACK </a:t>
            </a:r>
            <a:r>
              <a:rPr lang="zh-TW" altLang="en-US"/>
              <a:t>後開始。
兩條影像管線要區分：</a:t>
            </a:r>
            <a:r>
              <a:rPr lang="en-US" altLang="zh-TW"/>
              <a:t>cam-color/cam-depth </a:t>
            </a:r>
            <a:r>
              <a:rPr lang="zh-TW" altLang="en-US"/>
              <a:t>的 </a:t>
            </a:r>
            <a:r>
              <a:rPr lang="en-US" altLang="zh-TW"/>
              <a:t>RTSP </a:t>
            </a:r>
            <a:r>
              <a:rPr lang="zh-TW" altLang="en-US"/>
              <a:t>供預覽與錄影，不能單靠兩路 </a:t>
            </a:r>
            <a:r>
              <a:rPr lang="en-US" altLang="zh-TW"/>
              <a:t>RTSP </a:t>
            </a:r>
            <a:r>
              <a:rPr lang="zh-TW" altLang="en-US"/>
              <a:t>到達時間保證同幀。精確定位使用 </a:t>
            </a:r>
            <a:r>
              <a:rPr lang="en-US" altLang="zh-TW"/>
              <a:t>/ws/rgbd</a:t>
            </a:r>
            <a:r>
              <a:rPr lang="zh-TW" altLang="en-US"/>
              <a:t>，在一個封包中帶 </a:t>
            </a:r>
            <a:r>
              <a:rPr lang="en-US" altLang="zh-TW"/>
              <a:t>JPEG </a:t>
            </a:r>
            <a:r>
              <a:rPr lang="zh-TW" altLang="en-US"/>
              <a:t>彩色、</a:t>
            </a:r>
            <a:r>
              <a:rPr lang="en-US" altLang="zh-TW"/>
              <a:t>PNG16 </a:t>
            </a:r>
            <a:r>
              <a:rPr lang="zh-TW" altLang="en-US"/>
              <a:t>深度、</a:t>
            </a:r>
            <a:r>
              <a:rPr lang="en-US" altLang="zh-TW"/>
              <a:t>frameId</a:t>
            </a:r>
            <a:r>
              <a:rPr lang="zh-TW" altLang="en-US"/>
              <a:t>、</a:t>
            </a:r>
            <a:r>
              <a:rPr lang="en-US" altLang="zh-TW"/>
              <a:t>capture timestamp </a:t>
            </a:r>
            <a:r>
              <a:rPr lang="zh-TW" altLang="en-US"/>
              <a:t>與校正參數。
</a:t>
            </a:r>
            <a:r>
              <a:rPr lang="en-US" altLang="zh-TW"/>
              <a:t>UWB </a:t>
            </a:r>
            <a:r>
              <a:rPr lang="zh-TW" altLang="en-US"/>
              <a:t>與 </a:t>
            </a:r>
            <a:r>
              <a:rPr lang="en-US" altLang="zh-TW"/>
              <a:t>IMU </a:t>
            </a:r>
            <a:r>
              <a:rPr lang="zh-TW" altLang="en-US"/>
              <a:t>經 </a:t>
            </a:r>
            <a:r>
              <a:rPr lang="en-US" altLang="zh-TW"/>
              <a:t>MQTT </a:t>
            </a:r>
            <a:r>
              <a:rPr lang="zh-TW" altLang="en-US"/>
              <a:t>進後端。即時只運算選中的人員定位法。</a:t>
            </a:r>
            <a:r>
              <a:rPr lang="en-US" altLang="zh-TW"/>
              <a:t>4D-GWO </a:t>
            </a:r>
            <a:r>
              <a:rPr lang="zh-TW" altLang="en-US"/>
              <a:t>估計位置與共同距離偏差 </a:t>
            </a:r>
            <a:r>
              <a:rPr lang="en-US" altLang="zh-TW"/>
              <a:t>b</a:t>
            </a:r>
            <a:r>
              <a:rPr lang="zh-TW" altLang="en-US"/>
              <a:t>，</a:t>
            </a:r>
            <a:r>
              <a:rPr lang="en-US" altLang="zh-TW"/>
              <a:t>IMU </a:t>
            </a:r>
            <a:r>
              <a:rPr lang="zh-TW" altLang="en-US"/>
              <a:t>提供姿態。兩者組成設備 </a:t>
            </a:r>
            <a:r>
              <a:rPr lang="en-US" altLang="zh-TW"/>
              <a:t>pose</a:t>
            </a:r>
            <a:r>
              <a:rPr lang="zh-TW" altLang="en-US"/>
              <a:t>，由 </a:t>
            </a:r>
            <a:r>
              <a:rPr lang="en-US" altLang="zh-TW"/>
              <a:t>AI </a:t>
            </a:r>
            <a:r>
              <a:rPr lang="zh-TW" altLang="en-US"/>
              <a:t>的 </a:t>
            </a:r>
            <a:r>
              <a:rPr lang="en-US" altLang="zh-TW"/>
              <a:t>pose buffer </a:t>
            </a:r>
            <a:r>
              <a:rPr lang="zh-TW" altLang="en-US"/>
              <a:t>在影像時間取得相符 </a:t>
            </a:r>
            <a:r>
              <a:rPr lang="en-US" altLang="zh-TW"/>
              <a:t>pose</a:t>
            </a:r>
            <a:r>
              <a:rPr lang="zh-TW" altLang="en-US"/>
              <a:t>。
同幀原始世界座標經 </a:t>
            </a:r>
            <a:r>
              <a:rPr lang="en-US" altLang="zh-TW"/>
              <a:t>Hungarian </a:t>
            </a:r>
            <a:r>
              <a:rPr lang="zh-TW" altLang="en-US"/>
              <a:t>關聯，進行螺絲多幀融合，再保存並供前端查詢。同幀螺絲支線目前會保留四種融合結果，與人員定位即時只算選定方法不同。
目前 </a:t>
            </a:r>
            <a:r>
              <a:rPr lang="en-US" altLang="zh-TW"/>
              <a:t>test_depth.mp4 </a:t>
            </a:r>
            <a:r>
              <a:rPr lang="zh-TW" altLang="en-US"/>
              <a:t>為灰階換算的示範深度，偵測器預設 </a:t>
            </a:r>
            <a:r>
              <a:rPr lang="en-US" altLang="zh-TW"/>
              <a:t>mock_yolo</a:t>
            </a:r>
            <a:r>
              <a:rPr lang="zh-TW" altLang="en-US"/>
              <a:t>。真實相機同步、時鐘校準與 </a:t>
            </a:r>
            <a:r>
              <a:rPr lang="en-US" altLang="zh-TW"/>
              <a:t>YOLO </a:t>
            </a:r>
            <a:r>
              <a:rPr lang="zh-TW" altLang="en-US"/>
              <a:t>權重尚須硬體端交接。
程式依據：</a:t>
            </a:r>
            <a:r>
              <a:rPr lang="en-US" altLang="zh-TW"/>
              <a:t>AI/test/test2.py</a:t>
            </a:r>
            <a:r>
              <a:rPr lang="zh-TW" altLang="en-US"/>
              <a:t>、</a:t>
            </a:r>
            <a:r>
              <a:rPr lang="en-US" altLang="zh-TW"/>
              <a:t>AI/test/rgbd_sender.py</a:t>
            </a:r>
            <a:r>
              <a:rPr lang="zh-TW" altLang="en-US"/>
              <a:t>、</a:t>
            </a:r>
            <a:r>
              <a:rPr lang="en-US" altLang="zh-TW"/>
              <a:t>AI/rgbd_api.py</a:t>
            </a:r>
            <a:r>
              <a:rPr lang="zh-TW" altLang="en-US"/>
              <a:t>、</a:t>
            </a:r>
            <a:r>
              <a:rPr lang="en-US" altLang="zh-TW"/>
              <a:t>backend/src/mqtt/mqttClient.js</a:t>
            </a:r>
            <a:r>
              <a:rPr lang="zh-TW" altLang="en-US"/>
              <a:t>、</a:t>
            </a:r>
            <a:r>
              <a:rPr lang="en-US" altLang="zh-TW"/>
              <a:t>backend/src/positioning/rgbdFusion.js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06D57-2B2B-4292-8788-9F5C4E34D5F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613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邊緣端先把深度對齊彩色影像，再傳同一個二進位 </a:t>
            </a:r>
            <a:r>
              <a:rPr lang="en-US" altLang="zh-TW"/>
              <a:t>RGB-D </a:t>
            </a:r>
            <a:r>
              <a:rPr lang="zh-TW" altLang="en-US"/>
              <a:t>封包。彩色使用 </a:t>
            </a:r>
            <a:r>
              <a:rPr lang="en-US" altLang="zh-TW"/>
              <a:t>JPEG</a:t>
            </a:r>
            <a:r>
              <a:rPr lang="zh-TW" altLang="en-US"/>
              <a:t>，原始 </a:t>
            </a:r>
            <a:r>
              <a:rPr lang="en-US" altLang="zh-TW"/>
              <a:t>uint16 </a:t>
            </a:r>
            <a:r>
              <a:rPr lang="zh-TW" altLang="en-US"/>
              <a:t>深度使用 </a:t>
            </a:r>
            <a:r>
              <a:rPr lang="en-US" altLang="zh-TW"/>
              <a:t>PNG16</a:t>
            </a:r>
            <a:r>
              <a:rPr lang="zh-TW" altLang="en-US"/>
              <a:t>。每個封包包含 </a:t>
            </a:r>
            <a:r>
              <a:rPr lang="en-US" altLang="zh-TW"/>
              <a:t>operationId</a:t>
            </a:r>
            <a:r>
              <a:rPr lang="zh-TW" altLang="en-US"/>
              <a:t>、</a:t>
            </a:r>
            <a:r>
              <a:rPr lang="en-US" altLang="zh-TW"/>
              <a:t>sessionId</a:t>
            </a:r>
            <a:r>
              <a:rPr lang="zh-TW" altLang="en-US"/>
              <a:t>、</a:t>
            </a:r>
            <a:r>
              <a:rPr lang="en-US" altLang="zh-TW"/>
              <a:t>clockId</a:t>
            </a:r>
            <a:r>
              <a:rPr lang="zh-TW" altLang="en-US"/>
              <a:t>、</a:t>
            </a:r>
            <a:r>
              <a:rPr lang="en-US" altLang="zh-TW"/>
              <a:t>frameId</a:t>
            </a:r>
            <a:r>
              <a:rPr lang="zh-TW" altLang="en-US"/>
              <a:t>、</a:t>
            </a:r>
            <a:r>
              <a:rPr lang="en-US" altLang="zh-TW"/>
              <a:t>colorCaptureTimeNs</a:t>
            </a:r>
            <a:r>
              <a:rPr lang="zh-TW" altLang="en-US"/>
              <a:t>、</a:t>
            </a:r>
            <a:r>
              <a:rPr lang="en-US" altLang="zh-TW"/>
              <a:t>depthCaptureTimeNs</a:t>
            </a:r>
            <a:r>
              <a:rPr lang="zh-TW" altLang="en-US"/>
              <a:t>、</a:t>
            </a:r>
            <a:r>
              <a:rPr lang="en-US" altLang="zh-TW"/>
              <a:t>intrinsics</a:t>
            </a:r>
            <a:r>
              <a:rPr lang="zh-TW" altLang="en-US"/>
              <a:t>、</a:t>
            </a:r>
            <a:r>
              <a:rPr lang="en-US" altLang="zh-TW"/>
              <a:t>depthScaleMeters </a:t>
            </a:r>
            <a:r>
              <a:rPr lang="zh-TW" altLang="en-US"/>
              <a:t>與 </a:t>
            </a:r>
            <a:r>
              <a:rPr lang="en-US" altLang="zh-TW"/>
              <a:t>calibrationId</a:t>
            </a:r>
            <a:r>
              <a:rPr lang="zh-TW" altLang="en-US"/>
              <a:t>。
</a:t>
            </a:r>
            <a:r>
              <a:rPr lang="en-US" altLang="zh-TW"/>
              <a:t>AI </a:t>
            </a:r>
            <a:r>
              <a:rPr lang="zh-TW" altLang="en-US"/>
              <a:t>先檢查格式、尺寸、型別及序列。重複或倒序 </a:t>
            </a:r>
            <a:r>
              <a:rPr lang="en-US" altLang="zh-TW"/>
              <a:t>frameId</a:t>
            </a:r>
            <a:r>
              <a:rPr lang="zh-TW" altLang="en-US"/>
              <a:t>、不單調 </a:t>
            </a:r>
            <a:r>
              <a:rPr lang="en-US" altLang="zh-TW"/>
              <a:t>capture time </a:t>
            </a:r>
            <a:r>
              <a:rPr lang="zh-TW" altLang="en-US"/>
              <a:t>拒絕處理。</a:t>
            </a:r>
            <a:r>
              <a:rPr lang="en-US" altLang="zh-TW"/>
              <a:t>frameId </a:t>
            </a:r>
            <a:r>
              <a:rPr lang="zh-TW" altLang="en-US"/>
              <a:t>跳號只累計 </a:t>
            </a:r>
            <a:r>
              <a:rPr lang="en-US" altLang="zh-TW"/>
              <a:t>missingFrames</a:t>
            </a:r>
            <a:r>
              <a:rPr lang="zh-TW" altLang="en-US"/>
              <a:t>，不把下一張深度錯配前一張彩色。
兩路擷取時間差門檻為 </a:t>
            </a:r>
            <a:r>
              <a:rPr lang="en-US" altLang="zh-TW"/>
              <a:t>20 ms</a:t>
            </a:r>
            <a:r>
              <a:rPr lang="zh-TW" altLang="en-US"/>
              <a:t>。超過時記錄 </a:t>
            </a:r>
            <a:r>
              <a:rPr lang="en-US" altLang="zh-TW"/>
              <a:t>pair_time_mismatch</a:t>
            </a:r>
            <a:r>
              <a:rPr lang="zh-TW" altLang="en-US"/>
              <a:t>，不產生有效定位。此數字是工程設定，需真實硬體測試校準。
</a:t>
            </a:r>
            <a:r>
              <a:rPr lang="en-US" altLang="zh-TW"/>
              <a:t>PoseBuffer </a:t>
            </a:r>
            <a:r>
              <a:rPr lang="zh-TW" altLang="en-US"/>
              <a:t>在彩色擷取時間找精確 </a:t>
            </a:r>
            <a:r>
              <a:rPr lang="en-US" altLang="zh-TW"/>
              <a:t>pose</a:t>
            </a:r>
            <a:r>
              <a:rPr lang="zh-TW" altLang="en-US"/>
              <a:t>，或以前後 </a:t>
            </a:r>
            <a:r>
              <a:rPr lang="en-US" altLang="zh-TW"/>
              <a:t>pose </a:t>
            </a:r>
            <a:r>
              <a:rPr lang="zh-TW" altLang="en-US"/>
              <a:t>位置線性插值、四元數 </a:t>
            </a:r>
            <a:r>
              <a:rPr lang="en-US" altLang="zh-TW"/>
              <a:t>SLERP</a:t>
            </a:r>
            <a:r>
              <a:rPr lang="zh-TW" altLang="en-US"/>
              <a:t>。前後間隔須不超過 </a:t>
            </a:r>
            <a:r>
              <a:rPr lang="en-US" altLang="zh-TW"/>
              <a:t>200 ms</a:t>
            </a:r>
            <a:r>
              <a:rPr lang="zh-TW" altLang="en-US"/>
              <a:t>。缺少包夾樣本時不外插最新 </a:t>
            </a:r>
            <a:r>
              <a:rPr lang="en-US" altLang="zh-TW"/>
              <a:t>pose</a:t>
            </a:r>
            <a:r>
              <a:rPr lang="zh-TW" altLang="en-US"/>
              <a:t>，</a:t>
            </a:r>
            <a:r>
              <a:rPr lang="en-US" altLang="zh-TW"/>
              <a:t>WebSocket </a:t>
            </a:r>
            <a:r>
              <a:rPr lang="zh-TW" altLang="en-US"/>
              <a:t>接收可先短暫等待右側 </a:t>
            </a:r>
            <a:r>
              <a:rPr lang="en-US" altLang="zh-TW"/>
              <a:t>pose</a:t>
            </a:r>
            <a:r>
              <a:rPr lang="zh-TW" altLang="en-US"/>
              <a:t>。</a:t>
            </a:r>
            <a:r>
              <a:rPr lang="en-US" altLang="zh-TW"/>
              <a:t>200 ms </a:t>
            </a:r>
            <a:r>
              <a:rPr lang="zh-TW" altLang="en-US"/>
              <a:t>是 </a:t>
            </a:r>
            <a:r>
              <a:rPr lang="en-US" altLang="zh-TW"/>
              <a:t>pose </a:t>
            </a:r>
            <a:r>
              <a:rPr lang="zh-TW" altLang="en-US"/>
              <a:t>樣本間隔門檻，不等於固定等待 </a:t>
            </a:r>
            <a:r>
              <a:rPr lang="en-US" altLang="zh-TW"/>
              <a:t>200 ms</a:t>
            </a:r>
            <a:r>
              <a:rPr lang="zh-TW" altLang="en-US"/>
              <a:t>。
彩色影像經偵測器得到 </a:t>
            </a:r>
            <a:r>
              <a:rPr lang="en-US" altLang="zh-TW"/>
              <a:t>bbox </a:t>
            </a:r>
            <a:r>
              <a:rPr lang="zh-TW" altLang="en-US"/>
              <a:t>和中心座標，同幀深度中心 </a:t>
            </a:r>
            <a:r>
              <a:rPr lang="en-US" altLang="zh-TW"/>
              <a:t>5×5 </a:t>
            </a:r>
            <a:r>
              <a:rPr lang="zh-TW" altLang="en-US"/>
              <a:t>有效值中位數取得公尺深度，再做相機內參反投影。無偵測、無效深度、</a:t>
            </a:r>
            <a:r>
              <a:rPr lang="en-US" altLang="zh-TW"/>
              <a:t>pose </a:t>
            </a:r>
            <a:r>
              <a:rPr lang="zh-TW" altLang="en-US"/>
              <a:t>缺少或外參版本不合時保留狀態與影像，不產生有效世界定位觀測。
本機示範 </a:t>
            </a:r>
            <a:r>
              <a:rPr lang="en-US" altLang="zh-TW"/>
              <a:t>sender </a:t>
            </a:r>
            <a:r>
              <a:rPr lang="zh-TW" altLang="en-US"/>
              <a:t>把後端 </a:t>
            </a:r>
            <a:r>
              <a:rPr lang="en-US" altLang="zh-TW"/>
              <a:t>pose timestamp </a:t>
            </a:r>
            <a:r>
              <a:rPr lang="zh-TW" altLang="en-US"/>
              <a:t>寫入影像 </a:t>
            </a:r>
            <a:r>
              <a:rPr lang="en-US" altLang="zh-TW"/>
              <a:t>metadata</a:t>
            </a:r>
            <a:r>
              <a:rPr lang="zh-TW" altLang="en-US"/>
              <a:t>，只能驗證軟體流程，尚未證明真實攝影機與 </a:t>
            </a:r>
            <a:r>
              <a:rPr lang="en-US" altLang="zh-TW"/>
              <a:t>IMU </a:t>
            </a:r>
            <a:r>
              <a:rPr lang="zh-TW" altLang="en-US"/>
              <a:t>的硬體時鐘同步。
程式依據：</a:t>
            </a:r>
            <a:r>
              <a:rPr lang="en-US" altLang="zh-TW"/>
              <a:t>AI/rgbd_sync.py</a:t>
            </a:r>
            <a:r>
              <a:rPr lang="zh-TW" altLang="en-US"/>
              <a:t>、</a:t>
            </a:r>
            <a:r>
              <a:rPr lang="en-US" altLang="zh-TW"/>
              <a:t>AI/rgbd_api.py</a:t>
            </a:r>
            <a:r>
              <a:rPr lang="zh-TW" altLang="en-US"/>
              <a:t>、</a:t>
            </a:r>
            <a:r>
              <a:rPr lang="en-US" altLang="zh-TW"/>
              <a:t>AI/test/rgbd_sender.py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06D57-2B2B-4292-8788-9F5C4E34D5F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452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/>
              <a:t>4D </a:t>
            </a:r>
            <a:r>
              <a:rPr lang="zh-TW" altLang="en-US"/>
              <a:t>的第四維是共同加性測距偏差 </a:t>
            </a:r>
            <a:r>
              <a:rPr lang="en-US" altLang="zh-TW"/>
              <a:t>b</a:t>
            </a:r>
            <a:r>
              <a:rPr lang="zh-TW" altLang="en-US"/>
              <a:t>，不是 </a:t>
            </a:r>
            <a:r>
              <a:rPr lang="en-US" altLang="zh-TW"/>
              <a:t>yaw</a:t>
            </a:r>
            <a:r>
              <a:rPr lang="zh-TW" altLang="en-US"/>
              <a:t>。狀態向量 </a:t>
            </a:r>
            <a:r>
              <a:rPr lang="en-US" altLang="zh-TW"/>
              <a:t>x=[x,y,z,b]^T</a:t>
            </a:r>
            <a:r>
              <a:rPr lang="zh-TW" altLang="en-US"/>
              <a:t>。各站預測距離為設備與已知基地站的歐氏距離加 </a:t>
            </a:r>
            <a:r>
              <a:rPr lang="en-US" altLang="zh-TW"/>
              <a:t>b</a:t>
            </a:r>
            <a:r>
              <a:rPr lang="zh-TW" altLang="en-US"/>
              <a:t>，目標是所有測距殘差平方和最小。
每次至少五個不同基地站的有效正距離，並檢查四維資訊矩陣可逆性。八站位於 </a:t>
            </a:r>
            <a:r>
              <a:rPr lang="en-US" altLang="zh-TW"/>
              <a:t>20×12 m </a:t>
            </a:r>
            <a:r>
              <a:rPr lang="zh-TW" altLang="en-US"/>
              <a:t>場域四角，各有 </a:t>
            </a:r>
            <a:r>
              <a:rPr lang="en-US" altLang="zh-TW"/>
              <a:t>z=0 </a:t>
            </a:r>
            <a:r>
              <a:rPr lang="zh-TW" altLang="en-US"/>
              <a:t>與 </a:t>
            </a:r>
            <a:r>
              <a:rPr lang="en-US" altLang="zh-TW"/>
              <a:t>2.5 m</a:t>
            </a:r>
            <a:r>
              <a:rPr lang="zh-TW" altLang="en-US"/>
              <a:t>。搜尋高度範圍 </a:t>
            </a:r>
            <a:r>
              <a:rPr lang="en-US" altLang="zh-TW"/>
              <a:t>0</a:t>
            </a:r>
            <a:r>
              <a:rPr lang="zh-TW" altLang="en-US"/>
              <a:t>～</a:t>
            </a:r>
            <a:r>
              <a:rPr lang="en-US" altLang="zh-TW"/>
              <a:t>2.8 m</a:t>
            </a:r>
            <a:r>
              <a:rPr lang="zh-TW" altLang="en-US"/>
              <a:t>。
使用 </a:t>
            </a:r>
            <a:r>
              <a:rPr lang="en-US" altLang="zh-TW"/>
              <a:t>100 </a:t>
            </a:r>
            <a:r>
              <a:rPr lang="zh-TW" altLang="en-US"/>
              <a:t>隻狼、</a:t>
            </a:r>
            <a:r>
              <a:rPr lang="en-US" altLang="zh-TW"/>
              <a:t>100 </a:t>
            </a:r>
            <a:r>
              <a:rPr lang="zh-TW" altLang="en-US"/>
              <a:t>次迭代，搜尋範圍均勻初始化，歷史 </a:t>
            </a:r>
            <a:r>
              <a:rPr lang="en-US" altLang="zh-TW"/>
              <a:t>alpha/beta/delta </a:t>
            </a:r>
            <a:r>
              <a:rPr lang="zh-TW" altLang="en-US"/>
              <a:t>領導狼，</a:t>
            </a:r>
            <a:r>
              <a:rPr lang="en-US" altLang="zh-TW"/>
              <a:t>a=2[1-(t/T)^2]</a:t>
            </a:r>
            <a:r>
              <a:rPr lang="zh-TW" altLang="en-US"/>
              <a:t>。保留原 </a:t>
            </a:r>
            <a:r>
              <a:rPr lang="en-US" altLang="zh-TW"/>
              <a:t>MATLAB </a:t>
            </a:r>
            <a:r>
              <a:rPr lang="zh-TW" altLang="en-US"/>
              <a:t>的主要更新機制，沒有額外 </a:t>
            </a:r>
            <a:r>
              <a:rPr lang="en-US" altLang="zh-TW"/>
              <a:t>warm start </a:t>
            </a:r>
            <a:r>
              <a:rPr lang="zh-TW" altLang="en-US"/>
              <a:t>或局部精修。
預設 </a:t>
            </a:r>
            <a:r>
              <a:rPr lang="en-US" altLang="zh-TW"/>
              <a:t>b=0</a:t>
            </a:r>
            <a:r>
              <a:rPr lang="zh-TW" altLang="en-US"/>
              <a:t>～</a:t>
            </a:r>
            <a:r>
              <a:rPr lang="en-US" altLang="zh-TW"/>
              <a:t>0.6 m</a:t>
            </a:r>
            <a:r>
              <a:rPr lang="zh-TW" altLang="en-US"/>
              <a:t>，包含零偏差。可由 </a:t>
            </a:r>
            <a:r>
              <a:rPr lang="en-US" altLang="zh-TW"/>
              <a:t>GWO4D_BIAS_MIN/MAX </a:t>
            </a:r>
            <a:r>
              <a:rPr lang="zh-TW" altLang="en-US"/>
              <a:t>還原 </a:t>
            </a:r>
            <a:r>
              <a:rPr lang="en-US" altLang="zh-TW"/>
              <a:t>0.1</a:t>
            </a:r>
            <a:r>
              <a:rPr lang="zh-TW" altLang="en-US"/>
              <a:t>～</a:t>
            </a:r>
            <a:r>
              <a:rPr lang="en-US" altLang="zh-TW"/>
              <a:t>0.6 m</a:t>
            </a:r>
            <a:r>
              <a:rPr lang="zh-TW" altLang="en-US"/>
              <a:t>。範圍包含零並不保證精度優於其他方法。
求解成功更新設備位置與 </a:t>
            </a:r>
            <a:r>
              <a:rPr lang="en-US" altLang="zh-TW"/>
              <a:t>b</a:t>
            </a:r>
            <a:r>
              <a:rPr lang="zh-TW" altLang="en-US"/>
              <a:t>，</a:t>
            </a:r>
            <a:r>
              <a:rPr lang="en-US" altLang="zh-TW"/>
              <a:t>IMU </a:t>
            </a:r>
            <a:r>
              <a:rPr lang="zh-TW" altLang="en-US"/>
              <a:t>仍沿用既有角速度積分或模擬 </a:t>
            </a:r>
            <a:r>
              <a:rPr lang="en-US" altLang="zh-TW"/>
              <a:t>heading</a:t>
            </a:r>
            <a:r>
              <a:rPr lang="zh-TW" altLang="en-US"/>
              <a:t>，</a:t>
            </a:r>
            <a:r>
              <a:rPr lang="en-US" altLang="zh-TW"/>
              <a:t>GWO </a:t>
            </a:r>
            <a:r>
              <a:rPr lang="zh-TW" altLang="en-US"/>
              <a:t>分支不以加速度推進位置。這不是完整 </a:t>
            </a:r>
            <a:r>
              <a:rPr lang="en-US" altLang="zh-TW"/>
              <a:t>INS </a:t>
            </a:r>
            <a:r>
              <a:rPr lang="zh-TW" altLang="en-US"/>
              <a:t>緊耦合，也沒有新增航向漂移校正。求解失敗保留先前狀態，拒絕新的未就緒同幀 </a:t>
            </a:r>
            <a:r>
              <a:rPr lang="en-US" altLang="zh-TW"/>
              <a:t>pose</a:t>
            </a:r>
            <a:r>
              <a:rPr lang="zh-TW" altLang="en-US"/>
              <a:t>。
即時只跑當下選定人員定位法。相同原始距離固定隨機種子，讓事後重播可重現。局部資訊矩陣給的是近似方差，不是全域最佳保證。
程式依據：</a:t>
            </a:r>
            <a:r>
              <a:rPr lang="en-US" altLang="zh-TW"/>
              <a:t>backend/src/positioning/gwo4d.js</a:t>
            </a:r>
            <a:r>
              <a:rPr lang="zh-TW" altLang="en-US"/>
              <a:t>、</a:t>
            </a:r>
            <a:r>
              <a:rPr lang="en-US" altLang="zh-TW"/>
              <a:t>esEkf.js</a:t>
            </a:r>
            <a:r>
              <a:rPr lang="zh-TW" altLang="en-US"/>
              <a:t>、</a:t>
            </a:r>
            <a:r>
              <a:rPr lang="en-US" altLang="zh-TW"/>
              <a:t>mqtt/mqttClient.js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06D57-2B2B-4292-8788-9F5C4E34D5F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351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先由偵測 </a:t>
            </a:r>
            <a:r>
              <a:rPr lang="en-US" altLang="zh-TW"/>
              <a:t>bbox </a:t>
            </a:r>
            <a:r>
              <a:rPr lang="zh-TW" altLang="en-US"/>
              <a:t>中心及同幀深度反投影至相機座標 </a:t>
            </a:r>
            <a:r>
              <a:rPr lang="en-US" altLang="zh-TW"/>
              <a:t>p_C</a:t>
            </a:r>
            <a:r>
              <a:rPr lang="zh-TW" altLang="en-US"/>
              <a:t>。將相機座標用設定的相機對設備外參 </a:t>
            </a:r>
            <a:r>
              <a:rPr lang="en-US" altLang="zh-TW"/>
              <a:t>R_C^B</a:t>
            </a:r>
            <a:r>
              <a:rPr lang="zh-TW" altLang="en-US"/>
              <a:t>、</a:t>
            </a:r>
            <a:r>
              <a:rPr lang="en-US" altLang="zh-TW"/>
              <a:t>t_C^B </a:t>
            </a:r>
            <a:r>
              <a:rPr lang="zh-TW" altLang="en-US"/>
              <a:t>變到設備座標，再用該幀設備世界姿態 </a:t>
            </a:r>
            <a:r>
              <a:rPr lang="en-US" altLang="zh-TW"/>
              <a:t>R_B^W </a:t>
            </a:r>
            <a:r>
              <a:rPr lang="zh-TW" altLang="en-US"/>
              <a:t>和位置 </a:t>
            </a:r>
            <a:r>
              <a:rPr lang="en-US" altLang="zh-TW"/>
              <a:t>p_B^W </a:t>
            </a:r>
            <a:r>
              <a:rPr lang="zh-TW" altLang="en-US"/>
              <a:t>變到世界座標。
公式是 </a:t>
            </a:r>
            <a:r>
              <a:rPr lang="en-US" altLang="zh-TW"/>
              <a:t>p_s^W=R_B^W(R_C^B p_s^C+t_C^B)+p_B^W</a:t>
            </a:r>
            <a:r>
              <a:rPr lang="zh-TW" altLang="en-US"/>
              <a:t>。</a:t>
            </a:r>
            <a:r>
              <a:rPr lang="en-US" altLang="zh-TW"/>
              <a:t>R_B^W </a:t>
            </a:r>
            <a:r>
              <a:rPr lang="zh-TW" altLang="en-US"/>
              <a:t>由設備四元數得到。這裡原始世界位置是量測，不能直接拿既知螺絲地圖位置替代它。
</a:t>
            </a:r>
            <a:r>
              <a:rPr lang="en-US" altLang="zh-TW"/>
              <a:t>Hungarian </a:t>
            </a:r>
            <a:r>
              <a:rPr lang="zh-TW" altLang="en-US"/>
              <a:t>在同一幀的多個觀測與地圖螺絲間找一對一配對。目前成本是歐氏距離，先做 </a:t>
            </a:r>
            <a:r>
              <a:rPr lang="en-US" altLang="zh-TW"/>
              <a:t>0.8 m </a:t>
            </a:r>
            <a:r>
              <a:rPr lang="zh-TW" altLang="en-US"/>
              <a:t>門檻與已知類別一致性檢查，加入虛擬欄允許未配對。未配對觀測保留標記，不更新既知螺絲位置。
配對成功後每顆螺絲保留最近 </a:t>
            </a:r>
            <a:r>
              <a:rPr lang="en-US" altLang="zh-TW"/>
              <a:t>60 </a:t>
            </a:r>
            <a:r>
              <a:rPr lang="zh-TW" altLang="en-US"/>
              <a:t>筆觀測。平台同幀管線會計算並保存平均法、</a:t>
            </a:r>
            <a:r>
              <a:rPr lang="en-US" altLang="zh-TW"/>
              <a:t>EKF</a:t>
            </a:r>
            <a:r>
              <a:rPr lang="zh-TW" altLang="en-US"/>
              <a:t>、</a:t>
            </a:r>
            <a:r>
              <a:rPr lang="en-US" altLang="zh-TW"/>
              <a:t>ES-EKF</a:t>
            </a:r>
            <a:r>
              <a:rPr lang="zh-TW" altLang="en-US"/>
              <a:t>、</a:t>
            </a:r>
            <a:r>
              <a:rPr lang="en-US" altLang="zh-TW"/>
              <a:t>RMV-FGO </a:t>
            </a:r>
            <a:r>
              <a:rPr lang="zh-TW" altLang="en-US"/>
              <a:t>四種結果，前端螺絲融合選單決定呈現結果。這與人員演算法即時僅計算選中方法不同。
注意平台 </a:t>
            </a:r>
            <a:r>
              <a:rPr lang="en-US" altLang="zh-TW"/>
              <a:t>RMV-FGO </a:t>
            </a:r>
            <a:r>
              <a:rPr lang="zh-TW" altLang="en-US"/>
              <a:t>是目前 </a:t>
            </a:r>
            <a:r>
              <a:rPr lang="en-US" altLang="zh-TW"/>
              <a:t>JavaScript </a:t>
            </a:r>
            <a:r>
              <a:rPr lang="zh-TW" altLang="en-US"/>
              <a:t>實作，其狀態與參數須依 </a:t>
            </a:r>
            <a:r>
              <a:rPr lang="en-US" altLang="zh-TW"/>
              <a:t>screwFusion.js </a:t>
            </a:r>
            <a:r>
              <a:rPr lang="zh-TW" altLang="en-US"/>
              <a:t>說明，不能直接套用 </a:t>
            </a:r>
            <a:r>
              <a:rPr lang="en-US" altLang="zh-TW"/>
              <a:t>Python </a:t>
            </a:r>
            <a:r>
              <a:rPr lang="zh-TW" altLang="en-US"/>
              <a:t>模擬中設備平移與 </a:t>
            </a:r>
            <a:r>
              <a:rPr lang="en-US" altLang="zh-TW"/>
              <a:t>yaw </a:t>
            </a:r>
            <a:r>
              <a:rPr lang="zh-TW" altLang="en-US"/>
              <a:t>聯合優化版的全部假設。
附近提示目前由設備 </a:t>
            </a:r>
            <a:r>
              <a:rPr lang="en-US" altLang="zh-TW"/>
              <a:t>pose </a:t>
            </a:r>
            <a:r>
              <a:rPr lang="zh-TW" altLang="en-US"/>
              <a:t>與工作場域螺絲資訊判斷，</a:t>
            </a:r>
            <a:r>
              <a:rPr lang="en-US" altLang="zh-TW"/>
              <a:t>MQTT vision/notification </a:t>
            </a:r>
            <a:r>
              <a:rPr lang="zh-TW" altLang="en-US"/>
              <a:t>發文字，並非只在攝影機正前方才提示。
程式依據：</a:t>
            </a:r>
            <a:r>
              <a:rPr lang="en-US" altLang="zh-TW"/>
              <a:t>AI/rgbd_sync.py</a:t>
            </a:r>
            <a:r>
              <a:rPr lang="zh-TW" altLang="en-US"/>
              <a:t>、</a:t>
            </a:r>
            <a:r>
              <a:rPr lang="en-US" altLang="zh-TW"/>
              <a:t>backend/src/positioning/rgbdFusion.js</a:t>
            </a:r>
            <a:r>
              <a:rPr lang="zh-TW" altLang="en-US"/>
              <a:t>、</a:t>
            </a:r>
            <a:r>
              <a:rPr lang="en-US" altLang="zh-TW"/>
              <a:t>screwFusion.js</a:t>
            </a:r>
            <a:r>
              <a:rPr lang="zh-TW" altLang="en-US"/>
              <a:t>、</a:t>
            </a:r>
            <a:r>
              <a:rPr lang="en-US" altLang="zh-TW"/>
              <a:t>screwWorkspace.js</a:t>
            </a:r>
            <a:r>
              <a:rPr lang="zh-TW" altLang="en-US"/>
              <a:t>、</a:t>
            </a:r>
            <a:r>
              <a:rPr lang="en-US" altLang="zh-TW"/>
              <a:t>mqtt/mqttClient.js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06D57-2B2B-4292-8788-9F5C4E34D5F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14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原始 </a:t>
            </a:r>
            <a:r>
              <a:rPr lang="en-US" altLang="zh-TW"/>
              <a:t>UWB </a:t>
            </a:r>
            <a:r>
              <a:rPr lang="zh-TW" altLang="en-US"/>
              <a:t>和 </a:t>
            </a:r>
            <a:r>
              <a:rPr lang="en-US" altLang="zh-TW"/>
              <a:t>IMU </a:t>
            </a:r>
            <a:r>
              <a:rPr lang="zh-TW" altLang="en-US"/>
              <a:t>在串流期間持續存入 </a:t>
            </a:r>
            <a:r>
              <a:rPr lang="en-US" altLang="zh-TW"/>
              <a:t>RawSensorMeasurement</a:t>
            </a:r>
            <a:r>
              <a:rPr lang="zh-TW" altLang="en-US"/>
              <a:t>，與是否偵測到螺絲無關。</a:t>
            </a:r>
            <a:r>
              <a:rPr lang="en-US" altLang="zh-TW"/>
              <a:t>RGB-D </a:t>
            </a:r>
            <a:r>
              <a:rPr lang="zh-TW" altLang="en-US"/>
              <a:t>端先寫原始 </a:t>
            </a:r>
            <a:r>
              <a:rPr lang="en-US" altLang="zh-TW"/>
              <a:t>RGB-D </a:t>
            </a:r>
            <a:r>
              <a:rPr lang="zh-TW" altLang="en-US"/>
              <a:t>封包、逐幀 </a:t>
            </a:r>
            <a:r>
              <a:rPr lang="en-US" altLang="zh-TW"/>
              <a:t>sidecar JSON </a:t>
            </a:r>
            <a:r>
              <a:rPr lang="zh-TW" altLang="en-US"/>
              <a:t>與 </a:t>
            </a:r>
            <a:r>
              <a:rPr lang="en-US" altLang="zh-TW"/>
              <a:t>pending journal</a:t>
            </a:r>
            <a:r>
              <a:rPr lang="zh-TW" altLang="en-US"/>
              <a:t>，再送後端 </a:t>
            </a:r>
            <a:r>
              <a:rPr lang="en-US" altLang="zh-TW"/>
              <a:t>frames API</a:t>
            </a:r>
            <a:r>
              <a:rPr lang="zh-TW" altLang="en-US"/>
              <a:t>。</a:t>
            </a:r>
            <a:r>
              <a:rPr lang="en-US" altLang="zh-TW"/>
              <a:t>MongoDB </a:t>
            </a:r>
            <a:r>
              <a:rPr lang="zh-TW" altLang="en-US"/>
              <a:t>成功寫入並融合後才回 </a:t>
            </a:r>
            <a:r>
              <a:rPr lang="en-US" altLang="zh-TW"/>
              <a:t>persisted ACK</a:t>
            </a:r>
            <a:r>
              <a:rPr lang="zh-TW" altLang="en-US"/>
              <a:t>，失敗不假裝成功，</a:t>
            </a:r>
            <a:r>
              <a:rPr lang="en-US" altLang="zh-TW"/>
              <a:t>pending </a:t>
            </a:r>
            <a:r>
              <a:rPr lang="zh-TW" altLang="en-US"/>
              <a:t>可補送。
</a:t>
            </a:r>
            <a:r>
              <a:rPr lang="en-US" altLang="zh-TW"/>
              <a:t>RgbdFrame </a:t>
            </a:r>
            <a:r>
              <a:rPr lang="zh-TW" altLang="en-US"/>
              <a:t>保存 </a:t>
            </a:r>
            <a:r>
              <a:rPr lang="en-US" altLang="zh-TW"/>
              <a:t>sessionId</a:t>
            </a:r>
            <a:r>
              <a:rPr lang="zh-TW" altLang="en-US"/>
              <a:t>、</a:t>
            </a:r>
            <a:r>
              <a:rPr lang="en-US" altLang="zh-TW"/>
              <a:t>frameId</a:t>
            </a:r>
            <a:r>
              <a:rPr lang="zh-TW" altLang="en-US"/>
              <a:t>、</a:t>
            </a:r>
            <a:r>
              <a:rPr lang="en-US" altLang="zh-TW"/>
              <a:t>capture/received/processed time</a:t>
            </a:r>
            <a:r>
              <a:rPr lang="zh-TW" altLang="en-US"/>
              <a:t>、原始封包路徑、</a:t>
            </a:r>
            <a:r>
              <a:rPr lang="en-US" altLang="zh-TW"/>
              <a:t>devicePose</a:t>
            </a:r>
            <a:r>
              <a:rPr lang="zh-TW" altLang="en-US"/>
              <a:t>、偵測與融合狀態。彩色與深度可用逐幀媒體回放，同幀頁面不虛構與獨立 </a:t>
            </a:r>
            <a:r>
              <a:rPr lang="en-US" altLang="zh-TW"/>
              <a:t>RTSP MP4 </a:t>
            </a:r>
            <a:r>
              <a:rPr lang="zh-TW" altLang="en-US"/>
              <a:t>的時間對應。
正常停止時 </a:t>
            </a:r>
            <a:r>
              <a:rPr lang="en-US" altLang="zh-TW"/>
              <a:t>test2 </a:t>
            </a:r>
            <a:r>
              <a:rPr lang="zh-TW" altLang="en-US"/>
              <a:t>停止發送，</a:t>
            </a:r>
            <a:r>
              <a:rPr lang="en-US" altLang="zh-TW"/>
              <a:t>RGB-D end </a:t>
            </a:r>
            <a:r>
              <a:rPr lang="zh-TW" altLang="en-US"/>
              <a:t>刷新 </a:t>
            </a:r>
            <a:r>
              <a:rPr lang="en-US" altLang="zh-TW"/>
              <a:t>pending</a:t>
            </a:r>
            <a:r>
              <a:rPr lang="zh-TW" altLang="en-US"/>
              <a:t>，再送 </a:t>
            </a:r>
            <a:r>
              <a:rPr lang="en-US" altLang="zh-TW"/>
              <a:t>vision/operation/end</a:t>
            </a:r>
            <a:r>
              <a:rPr lang="zh-TW" altLang="en-US"/>
              <a:t>。</a:t>
            </a:r>
            <a:r>
              <a:rPr lang="en-US" altLang="zh-TW"/>
              <a:t>AI </a:t>
            </a:r>
            <a:r>
              <a:rPr lang="zh-TW" altLang="en-US"/>
              <a:t>也有串流中斷監測，例如 </a:t>
            </a:r>
            <a:r>
              <a:rPr lang="en-US" altLang="zh-TW"/>
              <a:t>RGB-D </a:t>
            </a:r>
            <a:r>
              <a:rPr lang="zh-TW" altLang="en-US"/>
              <a:t>斷訊 </a:t>
            </a:r>
            <a:r>
              <a:rPr lang="en-US" altLang="zh-TW"/>
              <a:t>10 </a:t>
            </a:r>
            <a:r>
              <a:rPr lang="zh-TW" altLang="en-US"/>
              <a:t>秒結束作業，首幀等待另有 </a:t>
            </a:r>
            <a:r>
              <a:rPr lang="en-US" altLang="zh-TW"/>
              <a:t>120 </a:t>
            </a:r>
            <a:r>
              <a:rPr lang="zh-TW" altLang="en-US"/>
              <a:t>秒門檻。</a:t>
            </a:r>
            <a:r>
              <a:rPr lang="en-US" altLang="zh-TW"/>
              <a:t>RGB-D </a:t>
            </a:r>
            <a:r>
              <a:rPr lang="zh-TW" altLang="en-US"/>
              <a:t>的 </a:t>
            </a:r>
            <a:r>
              <a:rPr lang="en-US" altLang="zh-TW"/>
              <a:t>ended </a:t>
            </a:r>
            <a:r>
              <a:rPr lang="zh-TW" altLang="en-US"/>
              <a:t>回應只代表該會話結束，不能把它當成 </a:t>
            </a:r>
            <a:r>
              <a:rPr lang="en-US" altLang="zh-TW"/>
              <a:t>MongoDB </a:t>
            </a:r>
            <a:r>
              <a:rPr lang="zh-TW" altLang="en-US"/>
              <a:t>作業 </a:t>
            </a:r>
            <a:r>
              <a:rPr lang="en-US" altLang="zh-TW"/>
              <a:t>endTime </a:t>
            </a:r>
            <a:r>
              <a:rPr lang="zh-TW" altLang="en-US"/>
              <a:t>已經寫好。
後端結束作業時寫入 </a:t>
            </a:r>
            <a:r>
              <a:rPr lang="en-US" altLang="zh-TW"/>
              <a:t>endTime</a:t>
            </a:r>
            <a:r>
              <a:rPr lang="zh-TW" altLang="en-US"/>
              <a:t>，從原始 </a:t>
            </a:r>
            <a:r>
              <a:rPr lang="en-US" altLang="zh-TW"/>
              <a:t>UWB/IMU </a:t>
            </a:r>
            <a:r>
              <a:rPr lang="zh-TW" altLang="en-US"/>
              <a:t>以 </a:t>
            </a:r>
            <a:r>
              <a:rPr lang="en-US" altLang="zh-TW"/>
              <a:t>worker </a:t>
            </a:r>
            <a:r>
              <a:rPr lang="zh-TW" altLang="en-US"/>
              <a:t>重播四種人員演算法，結果依 </a:t>
            </a:r>
            <a:r>
              <a:rPr lang="en-US" altLang="zh-TW"/>
              <a:t>fusionAlgorithm </a:t>
            </a:r>
            <a:r>
              <a:rPr lang="zh-TW" altLang="en-US"/>
              <a:t>分別存入 </a:t>
            </a:r>
            <a:r>
              <a:rPr lang="en-US" altLang="zh-TW"/>
              <a:t>OperatorTelemetry</a:t>
            </a:r>
            <a:r>
              <a:rPr lang="zh-TW" altLang="en-US"/>
              <a:t>。舊紀錄若沒有原始感測資料無法補算。
歷史頁讀取資料庫 </a:t>
            </a:r>
            <a:r>
              <a:rPr lang="en-US" altLang="zh-TW"/>
              <a:t>snapshot</a:t>
            </a:r>
            <a:r>
              <a:rPr lang="zh-TW" altLang="en-US"/>
              <a:t>，按影片目前時間限制路徑，勾選哪種演算法就顯示相應設備與軌跡。暫停時影片、</a:t>
            </a:r>
            <a:r>
              <a:rPr lang="en-US" altLang="zh-TW"/>
              <a:t>bbox</a:t>
            </a:r>
            <a:r>
              <a:rPr lang="zh-TW" altLang="en-US"/>
              <a:t>、設備與路徑保持相同幀，續播接續。即時暫停只凍結前端，後端持續接收保存，恢復時跳到最新狀態。
程式依據：</a:t>
            </a:r>
            <a:r>
              <a:rPr lang="en-US" altLang="zh-TW"/>
              <a:t>AI/rgbd_api.py</a:t>
            </a:r>
            <a:r>
              <a:rPr lang="zh-TW" altLang="en-US"/>
              <a:t>、</a:t>
            </a:r>
            <a:r>
              <a:rPr lang="en-US" altLang="zh-TW"/>
              <a:t>AI/main.py</a:t>
            </a:r>
            <a:r>
              <a:rPr lang="zh-TW" altLang="en-US"/>
              <a:t>、</a:t>
            </a:r>
            <a:r>
              <a:rPr lang="en-US" altLang="zh-TW"/>
              <a:t>backend/src/routes/rgbdRoutes.js</a:t>
            </a:r>
            <a:r>
              <a:rPr lang="zh-TW" altLang="en-US"/>
              <a:t>、</a:t>
            </a:r>
            <a:r>
              <a:rPr lang="en-US" altLang="zh-TW"/>
              <a:t>mqtt/mqttClient.js</a:t>
            </a:r>
            <a:r>
              <a:rPr lang="zh-TW" altLang="en-US"/>
              <a:t>、</a:t>
            </a:r>
            <a:r>
              <a:rPr lang="en-US" altLang="zh-TW"/>
              <a:t>positioning/telemetryReplayWorker.js</a:t>
            </a:r>
            <a:r>
              <a:rPr lang="zh-TW" altLang="en-US"/>
              <a:t>、</a:t>
            </a:r>
            <a:r>
              <a:rPr lang="en-US" altLang="zh-TW"/>
              <a:t>frontend/src/components/RgbdViewer.vue</a:t>
            </a:r>
            <a:r>
              <a:rPr lang="zh-TW" altLang="en-US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406D57-2B2B-4292-8788-9F5C4E34D5F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029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468EBE-290C-E65E-6DD7-8551720EE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4136E34-27E6-2A2A-3550-8349F1CCD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56BBCE-66ED-6D36-9EF3-741E7AF8F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504116-8CE7-ADAE-F95C-5E574E79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3BCD9D-DFD5-8B48-9EBF-01425FD94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6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800C1-E149-3E82-6C8D-729F5283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10795E-7109-454F-F3E9-CA64AA904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E0E2F6-D447-4232-C802-0631CA53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60DFDF-20C8-B773-DE75-4570CD56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1AD0F4C-0A16-9844-3F45-C759DEA43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5935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5D78AE-229F-C188-188C-94BFE09DD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DFC8A97-8060-B797-619F-4353814B5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4125A3-AF7C-25F0-40A9-F5048362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79967E9-2E73-A9FC-450C-2398BC2CD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BF8598-3C82-62DE-811F-579D15A4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0983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4B86E1-150D-880F-A972-632B6BFD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F849E5-BADB-7730-C3E5-2810E6ED1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05F921C-F6B2-D9AA-9EB1-DB670458B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D5ADEA3-F889-4A73-28E7-41A944CDC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F33A3E-693D-43CD-05E3-A0EBA1A2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E80EC25-BA11-8C9F-AAB3-9A966820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812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4C0CBF-2508-243A-B2D7-AC49BD60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92BA82-6874-021B-092B-F8348A947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ABBC65-B9B4-C784-14C0-0E86A35A6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6B9A9ED-7FFA-4549-009F-B05019E8C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2279B0F-60FD-F159-D931-DAFA3A4D6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01EA2A6-6944-152F-7DBB-DF8A62B9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F3A5E5E-126E-25DF-8055-99AEB8519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10096A9-EBAB-019E-48BE-29420BE6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306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4A4092-CFA1-2298-D508-8823D230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7DAEF3-1A01-2033-B155-B7DA9BAF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3430C3-AE25-0AAB-523D-80C895D1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F651FB-E5A5-821C-26D0-6B04A1B4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4821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E857682-B974-74EB-2155-DA6D41B30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143A094-A9FF-4AF2-DCDF-476DFA5E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BF91B6-9032-4C95-75BD-6D431984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6722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EC7D52-6C8F-0CC8-CD6F-7DA13209F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4C20E5-1C71-17DE-2870-C797A84C6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82DA244-B43E-7BD8-E8E8-FE9B382B0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229ECE-1839-4737-1495-89222584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306A253-2C05-1EA2-BE97-BBC7BB2D1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302B411-0313-A653-4982-AE7EB932F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5832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1660AC-DD3F-3518-3D4C-4BD1CCA3F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B317CA4-FC4F-FC49-2990-970C797CE6B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E4AE48C-00EE-22BE-69AE-B4896C1C0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AB3EDE-4626-A27E-98A8-892CCB04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3F67A9-1E68-D1B9-CBAD-61B2CBD9C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EC6F19-028E-431B-D195-8499E5FE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563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130A18-5EDB-AAE2-5AE5-8A016A9B8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1E7BD54-EFBE-C327-D1CA-F9CDCEC43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AB8C1D-7E2D-D109-5022-EFFF2F120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92ED8C-599A-F2E7-D776-A2A71F898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55416D-30F9-9372-1554-DCF270B7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252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921959-794F-9FAC-8118-253B373FC6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AB7225-3A64-8A3B-9D6C-E5F08BC4E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5F75AE-CDB1-A3AD-96C5-1112067F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31A19F-888A-FBCA-D359-AFE538AC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EFB64A-C5C3-E535-8BB8-AA61A2AE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050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6F94753-47C4-5980-F91B-9C3ED9E0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F271387-389D-0B67-EF9D-8D591776C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84E654-9022-8120-5DC0-702C8EABF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41A7A6-D19C-4A26-A8CB-EC4583567DF5}" type="datetimeFigureOut">
              <a:rPr lang="zh-TW" altLang="en-US" smtClean="0"/>
              <a:t>2026/10/20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20E639-4956-1638-E6F6-98F2C4184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227204-3014-C0C5-F106-D37758644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14FCA-DEEC-43B4-82F9-0CA5D431E2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7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F0227CD-B5A0-F740-3D73-BF835C77BEAD}"/>
              </a:ext>
            </a:extLst>
          </p:cNvPr>
          <p:cNvSpPr txBox="1"/>
          <p:nvPr/>
        </p:nvSpPr>
        <p:spPr>
          <a:xfrm>
            <a:off x="428625" y="238125"/>
            <a:ext cx="11334750" cy="5238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定位系統整體流程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B692D3-96AD-9559-05FE-7CFE99E7D2A5}"/>
              </a:ext>
            </a:extLst>
          </p:cNvPr>
          <p:cNvSpPr txBox="1"/>
          <p:nvPr/>
        </p:nvSpPr>
        <p:spPr>
          <a:xfrm>
            <a:off x="428625" y="771525"/>
            <a:ext cx="11334750" cy="304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en-US" altLang="zh-TW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 </a:t>
            </a:r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位於設備定位端，螺絲定位融合保持獨立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63F90E3D-7DA7-FB30-88F0-46214ADF7879}"/>
              </a:ext>
            </a:extLst>
          </p:cNvPr>
          <p:cNvCxnSpPr/>
          <p:nvPr/>
        </p:nvCxnSpPr>
        <p:spPr>
          <a:xfrm>
            <a:off x="6096000" y="1790700"/>
            <a:ext cx="0" cy="11430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49EB4EA3-9CA4-C79D-3451-FCF0DFE1F5FB}"/>
              </a:ext>
            </a:extLst>
          </p:cNvPr>
          <p:cNvCxnSpPr/>
          <p:nvPr/>
        </p:nvCxnSpPr>
        <p:spPr>
          <a:xfrm flipH="1">
            <a:off x="1857375" y="1905000"/>
            <a:ext cx="4238625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83CC1DA-861A-A324-E3FD-7158634F671B}"/>
              </a:ext>
            </a:extLst>
          </p:cNvPr>
          <p:cNvCxnSpPr/>
          <p:nvPr/>
        </p:nvCxnSpPr>
        <p:spPr>
          <a:xfrm>
            <a:off x="1857375" y="1905000"/>
            <a:ext cx="0" cy="1143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E795E1C9-2B06-A743-CB43-5749CEB71273}"/>
              </a:ext>
            </a:extLst>
          </p:cNvPr>
          <p:cNvCxnSpPr/>
          <p:nvPr/>
        </p:nvCxnSpPr>
        <p:spPr>
          <a:xfrm>
            <a:off x="6096000" y="1790700"/>
            <a:ext cx="0" cy="2286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52254BD-B418-58CD-1FF3-F0CB313F74AE}"/>
              </a:ext>
            </a:extLst>
          </p:cNvPr>
          <p:cNvCxnSpPr/>
          <p:nvPr/>
        </p:nvCxnSpPr>
        <p:spPr>
          <a:xfrm>
            <a:off x="6096000" y="1790700"/>
            <a:ext cx="0" cy="11430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27CEF15-D1CF-2D6A-D61A-1B84A7C347C5}"/>
              </a:ext>
            </a:extLst>
          </p:cNvPr>
          <p:cNvCxnSpPr/>
          <p:nvPr/>
        </p:nvCxnSpPr>
        <p:spPr>
          <a:xfrm>
            <a:off x="6096000" y="1905000"/>
            <a:ext cx="4191000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9D2B93C-EC0E-E562-EF63-AE42476C1EAA}"/>
              </a:ext>
            </a:extLst>
          </p:cNvPr>
          <p:cNvCxnSpPr/>
          <p:nvPr/>
        </p:nvCxnSpPr>
        <p:spPr>
          <a:xfrm>
            <a:off x="10287000" y="1905000"/>
            <a:ext cx="0" cy="1143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1C8B1BC6-83E7-5C38-1D1B-3959569B7519}"/>
              </a:ext>
            </a:extLst>
          </p:cNvPr>
          <p:cNvCxnSpPr/>
          <p:nvPr/>
        </p:nvCxnSpPr>
        <p:spPr>
          <a:xfrm>
            <a:off x="1857375" y="2781300"/>
            <a:ext cx="0" cy="55245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BCB7E492-711B-F42E-8125-613B3A518ED4}"/>
              </a:ext>
            </a:extLst>
          </p:cNvPr>
          <p:cNvCxnSpPr/>
          <p:nvPr/>
        </p:nvCxnSpPr>
        <p:spPr>
          <a:xfrm>
            <a:off x="6096000" y="2781300"/>
            <a:ext cx="0" cy="55245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5F6290F4-A455-011E-6024-00D0B21FC511}"/>
              </a:ext>
            </a:extLst>
          </p:cNvPr>
          <p:cNvCxnSpPr/>
          <p:nvPr/>
        </p:nvCxnSpPr>
        <p:spPr>
          <a:xfrm>
            <a:off x="1857375" y="4143375"/>
            <a:ext cx="0" cy="885825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7CAD93F-AA5C-6F74-ED4E-E172F4829596}"/>
              </a:ext>
            </a:extLst>
          </p:cNvPr>
          <p:cNvCxnSpPr/>
          <p:nvPr/>
        </p:nvCxnSpPr>
        <p:spPr>
          <a:xfrm>
            <a:off x="1857375" y="5029200"/>
            <a:ext cx="61912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34E228B-91FC-526F-92FA-F4CD12E23B93}"/>
              </a:ext>
            </a:extLst>
          </p:cNvPr>
          <p:cNvCxnSpPr/>
          <p:nvPr/>
        </p:nvCxnSpPr>
        <p:spPr>
          <a:xfrm>
            <a:off x="6096000" y="4143375"/>
            <a:ext cx="0" cy="542925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D725E7A5-EB68-7B83-681B-53BF567216D7}"/>
              </a:ext>
            </a:extLst>
          </p:cNvPr>
          <p:cNvCxnSpPr/>
          <p:nvPr/>
        </p:nvCxnSpPr>
        <p:spPr>
          <a:xfrm>
            <a:off x="7762875" y="5029200"/>
            <a:ext cx="1047750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A6B9D9A-0199-F249-13C1-64431EE2868B}"/>
              </a:ext>
            </a:extLst>
          </p:cNvPr>
          <p:cNvCxnSpPr/>
          <p:nvPr/>
        </p:nvCxnSpPr>
        <p:spPr>
          <a:xfrm>
            <a:off x="10287000" y="2781300"/>
            <a:ext cx="0" cy="19050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art">
            <a:extLst>
              <a:ext uri="{FF2B5EF4-FFF2-40B4-BE49-F238E27FC236}">
                <a16:creationId xmlns:a16="http://schemas.microsoft.com/office/drawing/2014/main" id="{B3A0CD72-54F2-5ADD-E693-2DF65CB14916}"/>
              </a:ext>
            </a:extLst>
          </p:cNvPr>
          <p:cNvSpPr/>
          <p:nvPr/>
        </p:nvSpPr>
        <p:spPr>
          <a:xfrm>
            <a:off x="3762375" y="1238250"/>
            <a:ext cx="4667250" cy="552450"/>
          </a:xfrm>
          <a:prstGeom prst="rect">
            <a:avLst/>
          </a:prstGeom>
          <a:solidFill>
            <a:srgbClr val="F1F5FC"/>
          </a:solidFill>
          <a:ln w="19050">
            <a:solidFill>
              <a:srgbClr val="245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69C0E94-8885-44A2-9F50-51512ACB7C06}"/>
              </a:ext>
            </a:extLst>
          </p:cNvPr>
          <p:cNvSpPr txBox="1"/>
          <p:nvPr/>
        </p:nvSpPr>
        <p:spPr>
          <a:xfrm>
            <a:off x="3838575" y="1285874"/>
            <a:ext cx="4514850" cy="4572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MQTT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作業開始，取得對應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ACK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0" name="img">
            <a:extLst>
              <a:ext uri="{FF2B5EF4-FFF2-40B4-BE49-F238E27FC236}">
                <a16:creationId xmlns:a16="http://schemas.microsoft.com/office/drawing/2014/main" id="{4D35721C-CD55-11E2-E1AB-43D0C18B1516}"/>
              </a:ext>
            </a:extLst>
          </p:cNvPr>
          <p:cNvSpPr/>
          <p:nvPr/>
        </p:nvSpPr>
        <p:spPr>
          <a:xfrm>
            <a:off x="428625" y="2019300"/>
            <a:ext cx="28575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7E02AF54-DDE2-8C19-1DEF-2A243C233FDD}"/>
              </a:ext>
            </a:extLst>
          </p:cNvPr>
          <p:cNvSpPr txBox="1"/>
          <p:nvPr/>
        </p:nvSpPr>
        <p:spPr>
          <a:xfrm>
            <a:off x="504825" y="2066924"/>
            <a:ext cx="2705100" cy="6667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RGB-D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影像與逐幀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metadata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2" name="sync">
            <a:extLst>
              <a:ext uri="{FF2B5EF4-FFF2-40B4-BE49-F238E27FC236}">
                <a16:creationId xmlns:a16="http://schemas.microsoft.com/office/drawing/2014/main" id="{309A69AB-15B5-F164-BC32-07D002D1F014}"/>
              </a:ext>
            </a:extLst>
          </p:cNvPr>
          <p:cNvSpPr/>
          <p:nvPr/>
        </p:nvSpPr>
        <p:spPr>
          <a:xfrm>
            <a:off x="428625" y="3333750"/>
            <a:ext cx="285750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3BF7DE2-6917-23F3-5702-91D35B60D1CB}"/>
              </a:ext>
            </a:extLst>
          </p:cNvPr>
          <p:cNvSpPr txBox="1"/>
          <p:nvPr/>
        </p:nvSpPr>
        <p:spPr>
          <a:xfrm>
            <a:off x="504825" y="3381375"/>
            <a:ext cx="270510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同幀驗證與螺絲辨識
深度反投影：相機座標</a:t>
            </a:r>
          </a:p>
        </p:txBody>
      </p:sp>
      <p:sp>
        <p:nvSpPr>
          <p:cNvPr id="24" name="raw">
            <a:extLst>
              <a:ext uri="{FF2B5EF4-FFF2-40B4-BE49-F238E27FC236}">
                <a16:creationId xmlns:a16="http://schemas.microsoft.com/office/drawing/2014/main" id="{18DF798A-BAB5-3BE7-B45D-EC3C5A423605}"/>
              </a:ext>
            </a:extLst>
          </p:cNvPr>
          <p:cNvSpPr/>
          <p:nvPr/>
        </p:nvSpPr>
        <p:spPr>
          <a:xfrm>
            <a:off x="4429125" y="2019300"/>
            <a:ext cx="33337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D2DA3009-FAE3-6282-F8BE-AA08C1325620}"/>
              </a:ext>
            </a:extLst>
          </p:cNvPr>
          <p:cNvSpPr txBox="1"/>
          <p:nvPr/>
        </p:nvSpPr>
        <p:spPr>
          <a:xfrm>
            <a:off x="4505325" y="2066924"/>
            <a:ext cx="3181350" cy="6667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8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站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UWB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距離＋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
MQTT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原始量測</a:t>
            </a:r>
          </a:p>
        </p:txBody>
      </p:sp>
      <p:sp>
        <p:nvSpPr>
          <p:cNvPr id="26" name="pose">
            <a:extLst>
              <a:ext uri="{FF2B5EF4-FFF2-40B4-BE49-F238E27FC236}">
                <a16:creationId xmlns:a16="http://schemas.microsoft.com/office/drawing/2014/main" id="{FCCE9143-10FF-073E-57BF-FF8046D59276}"/>
              </a:ext>
            </a:extLst>
          </p:cNvPr>
          <p:cNvSpPr/>
          <p:nvPr/>
        </p:nvSpPr>
        <p:spPr>
          <a:xfrm>
            <a:off x="4429125" y="3333750"/>
            <a:ext cx="3333750" cy="809625"/>
          </a:xfrm>
          <a:prstGeom prst="rect">
            <a:avLst/>
          </a:prstGeom>
          <a:solidFill>
            <a:srgbClr val="F1F5FC"/>
          </a:solidFill>
          <a:ln w="19050">
            <a:solidFill>
              <a:srgbClr val="245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24BC8CBA-3F62-5B48-1603-95B47C9E8AAE}"/>
              </a:ext>
            </a:extLst>
          </p:cNvPr>
          <p:cNvSpPr txBox="1"/>
          <p:nvPr/>
        </p:nvSpPr>
        <p:spPr>
          <a:xfrm>
            <a:off x="4505325" y="338137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選定設備定位演算法
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位置＋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姿態</a:t>
            </a:r>
          </a:p>
        </p:txBody>
      </p:sp>
      <p:sp>
        <p:nvSpPr>
          <p:cNvPr id="28" name="rtsp">
            <a:extLst>
              <a:ext uri="{FF2B5EF4-FFF2-40B4-BE49-F238E27FC236}">
                <a16:creationId xmlns:a16="http://schemas.microsoft.com/office/drawing/2014/main" id="{272FA427-84FE-BE2C-7E10-97BEC4053AD1}"/>
              </a:ext>
            </a:extLst>
          </p:cNvPr>
          <p:cNvSpPr/>
          <p:nvPr/>
        </p:nvSpPr>
        <p:spPr>
          <a:xfrm>
            <a:off x="8810625" y="2019300"/>
            <a:ext cx="29527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4C25DE0-11A6-33BA-81E8-2BEFB80B648F}"/>
              </a:ext>
            </a:extLst>
          </p:cNvPr>
          <p:cNvSpPr txBox="1"/>
          <p:nvPr/>
        </p:nvSpPr>
        <p:spPr>
          <a:xfrm>
            <a:off x="8886825" y="2066924"/>
            <a:ext cx="2800350" cy="6667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RTSP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雙通道
彩色／深度預覽與錄影</a:t>
            </a:r>
          </a:p>
        </p:txBody>
      </p:sp>
      <p:sp>
        <p:nvSpPr>
          <p:cNvPr id="30" name="world">
            <a:extLst>
              <a:ext uri="{FF2B5EF4-FFF2-40B4-BE49-F238E27FC236}">
                <a16:creationId xmlns:a16="http://schemas.microsoft.com/office/drawing/2014/main" id="{46BF1C00-825A-A8E9-701E-1A9BD498D588}"/>
              </a:ext>
            </a:extLst>
          </p:cNvPr>
          <p:cNvSpPr/>
          <p:nvPr/>
        </p:nvSpPr>
        <p:spPr>
          <a:xfrm>
            <a:off x="2476500" y="4686300"/>
            <a:ext cx="528637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6E4097F-B137-EDA4-19EA-45B1C50A94E2}"/>
              </a:ext>
            </a:extLst>
          </p:cNvPr>
          <p:cNvSpPr txBox="1"/>
          <p:nvPr/>
        </p:nvSpPr>
        <p:spPr>
          <a:xfrm>
            <a:off x="2552700" y="4733924"/>
            <a:ext cx="5133975" cy="5905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同時刻設備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＋相機外參
世界座標、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Hungarian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關聯、螺絲融合</a:t>
            </a:r>
          </a:p>
        </p:txBody>
      </p:sp>
      <p:sp>
        <p:nvSpPr>
          <p:cNvPr id="32" name="db">
            <a:extLst>
              <a:ext uri="{FF2B5EF4-FFF2-40B4-BE49-F238E27FC236}">
                <a16:creationId xmlns:a16="http://schemas.microsoft.com/office/drawing/2014/main" id="{D50E4003-A5AC-2D1E-CA97-0065592F5D25}"/>
              </a:ext>
            </a:extLst>
          </p:cNvPr>
          <p:cNvSpPr/>
          <p:nvPr/>
        </p:nvSpPr>
        <p:spPr>
          <a:xfrm>
            <a:off x="8810625" y="4686300"/>
            <a:ext cx="295275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6B5E2A-B2B7-CD49-21FA-C6268BBAE1F0}"/>
              </a:ext>
            </a:extLst>
          </p:cNvPr>
          <p:cNvSpPr txBox="1"/>
          <p:nvPr/>
        </p:nvSpPr>
        <p:spPr>
          <a:xfrm>
            <a:off x="8886825" y="4733924"/>
            <a:ext cx="2800350" cy="5905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資料庫與逐幀檔案
即時顯示／歷史回放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6CE411D-883C-3812-2514-B210996A63E6}"/>
              </a:ext>
            </a:extLst>
          </p:cNvPr>
          <p:cNvSpPr txBox="1"/>
          <p:nvPr/>
        </p:nvSpPr>
        <p:spPr>
          <a:xfrm>
            <a:off x="10382250" y="3524250"/>
            <a:ext cx="1428750" cy="2667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50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預覽與影片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A0E11EF8-4093-5303-5EDD-60532B8BE75E}"/>
              </a:ext>
            </a:extLst>
          </p:cNvPr>
          <p:cNvSpPr txBox="1"/>
          <p:nvPr/>
        </p:nvSpPr>
        <p:spPr>
          <a:xfrm>
            <a:off x="428625" y="5619749"/>
            <a:ext cx="11334750" cy="7810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平台呈現：彩色／深度、</a:t>
            </a:r>
            <a:r>
              <a:rPr lang="en-US" altLang="zh-TW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bbox</a:t>
            </a:r>
            <a:r>
              <a:rPr lang="zh-TW" altLang="en-US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3D </a:t>
            </a:r>
            <a:r>
              <a:rPr lang="zh-TW" altLang="en-US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設備軌跡、螺絲位置與附近提示。
同幀定位走 </a:t>
            </a:r>
            <a:r>
              <a:rPr lang="en-US" altLang="zh-TW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RGB-D </a:t>
            </a:r>
            <a:r>
              <a:rPr lang="zh-TW" altLang="en-US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封包，</a:t>
            </a:r>
            <a:r>
              <a:rPr lang="en-US" altLang="zh-TW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RTSP </a:t>
            </a:r>
            <a:r>
              <a:rPr lang="zh-TW" altLang="en-US" sz="157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不作同步依據。
目前深度與偵測含模擬資料，真實硬體與模型待接入。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ACC1472E-07BC-69EA-3C91-F2A389C8F021}"/>
              </a:ext>
            </a:extLst>
          </p:cNvPr>
          <p:cNvSpPr txBox="1"/>
          <p:nvPr/>
        </p:nvSpPr>
        <p:spPr>
          <a:xfrm>
            <a:off x="11334750" y="6496050"/>
            <a:ext cx="428625" cy="2095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r"/>
            <a:r>
              <a:rPr lang="en-US" altLang="zh-TW" sz="1275">
                <a:solidFill>
                  <a:srgbClr val="66666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</a:t>
            </a:r>
            <a:endParaRPr lang="zh-TW" altLang="en-US" sz="1275">
              <a:solidFill>
                <a:srgbClr val="66666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4663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CE1E419C-516C-96D3-DCD3-3ED4255788FA}"/>
              </a:ext>
            </a:extLst>
          </p:cNvPr>
          <p:cNvSpPr txBox="1"/>
          <p:nvPr/>
        </p:nvSpPr>
        <p:spPr>
          <a:xfrm>
            <a:off x="428625" y="238125"/>
            <a:ext cx="11334750" cy="5238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同幀 </a:t>
            </a:r>
            <a:r>
              <a:rPr lang="en-US" altLang="zh-TW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RGB-D </a:t>
            </a:r>
            <a:r>
              <a:rPr lang="zh-TW" altLang="en-US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接收與品質判斷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31CDC50-FFEB-1F66-8D5A-3D09A21C3D2D}"/>
              </a:ext>
            </a:extLst>
          </p:cNvPr>
          <p:cNvSpPr txBox="1"/>
          <p:nvPr/>
        </p:nvSpPr>
        <p:spPr>
          <a:xfrm>
            <a:off x="428625" y="771525"/>
            <a:ext cx="11334750" cy="304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以 </a:t>
            </a:r>
            <a:r>
              <a:rPr lang="en-US" altLang="zh-TW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frameId </a:t>
            </a:r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與擷取時間配對，異常幀不強行更新螺絲位置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9AFCAC8A-3ED6-0E95-6BC3-C8EE657070E9}"/>
              </a:ext>
            </a:extLst>
          </p:cNvPr>
          <p:cNvCxnSpPr/>
          <p:nvPr/>
        </p:nvCxnSpPr>
        <p:spPr>
          <a:xfrm>
            <a:off x="2066925" y="2000250"/>
            <a:ext cx="0" cy="66675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5B783C00-E018-9EF8-D7FF-8C1D14E17004}"/>
              </a:ext>
            </a:extLst>
          </p:cNvPr>
          <p:cNvCxnSpPr/>
          <p:nvPr/>
        </p:nvCxnSpPr>
        <p:spPr>
          <a:xfrm>
            <a:off x="3714750" y="3067050"/>
            <a:ext cx="61912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ACD1053-954C-C816-1CE8-4595B44A6CB9}"/>
              </a:ext>
            </a:extLst>
          </p:cNvPr>
          <p:cNvCxnSpPr/>
          <p:nvPr/>
        </p:nvCxnSpPr>
        <p:spPr>
          <a:xfrm>
            <a:off x="7667625" y="3067050"/>
            <a:ext cx="71437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61D8D22C-3907-68D7-102B-0A5EC20CB448}"/>
              </a:ext>
            </a:extLst>
          </p:cNvPr>
          <p:cNvCxnSpPr/>
          <p:nvPr/>
        </p:nvCxnSpPr>
        <p:spPr>
          <a:xfrm>
            <a:off x="6000750" y="3476625"/>
            <a:ext cx="0" cy="7620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A52E45B-1490-10C5-657E-E1C7109E4241}"/>
              </a:ext>
            </a:extLst>
          </p:cNvPr>
          <p:cNvCxnSpPr/>
          <p:nvPr/>
        </p:nvCxnSpPr>
        <p:spPr>
          <a:xfrm>
            <a:off x="6000750" y="2000250"/>
            <a:ext cx="1952625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2E07254-0969-EA65-FA15-BCAD91246FC9}"/>
              </a:ext>
            </a:extLst>
          </p:cNvPr>
          <p:cNvCxnSpPr/>
          <p:nvPr/>
        </p:nvCxnSpPr>
        <p:spPr>
          <a:xfrm>
            <a:off x="7953375" y="2000250"/>
            <a:ext cx="0" cy="190500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9AE8AE49-C3F5-BF50-DC68-CD681C078B1C}"/>
              </a:ext>
            </a:extLst>
          </p:cNvPr>
          <p:cNvCxnSpPr/>
          <p:nvPr/>
        </p:nvCxnSpPr>
        <p:spPr>
          <a:xfrm flipH="1">
            <a:off x="7048500" y="3905250"/>
            <a:ext cx="904875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3BA1748-E3B7-743C-CB7F-36F7DCE089FF}"/>
              </a:ext>
            </a:extLst>
          </p:cNvPr>
          <p:cNvCxnSpPr/>
          <p:nvPr/>
        </p:nvCxnSpPr>
        <p:spPr>
          <a:xfrm>
            <a:off x="7048500" y="3905250"/>
            <a:ext cx="0" cy="333375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B0ECBCED-51E0-343B-A2A5-54AC6FF199F8}"/>
              </a:ext>
            </a:extLst>
          </p:cNvPr>
          <p:cNvCxnSpPr/>
          <p:nvPr/>
        </p:nvCxnSpPr>
        <p:spPr>
          <a:xfrm>
            <a:off x="7667625" y="4648200"/>
            <a:ext cx="71437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acket">
            <a:extLst>
              <a:ext uri="{FF2B5EF4-FFF2-40B4-BE49-F238E27FC236}">
                <a16:creationId xmlns:a16="http://schemas.microsoft.com/office/drawing/2014/main" id="{16DF2007-A2F9-21B2-71A9-9A3403E6C295}"/>
              </a:ext>
            </a:extLst>
          </p:cNvPr>
          <p:cNvSpPr/>
          <p:nvPr/>
        </p:nvSpPr>
        <p:spPr>
          <a:xfrm>
            <a:off x="428625" y="1238250"/>
            <a:ext cx="3286125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1E89FEC-912A-D4EC-D0B7-A608E5F63E7E}"/>
              </a:ext>
            </a:extLst>
          </p:cNvPr>
          <p:cNvSpPr txBox="1"/>
          <p:nvPr/>
        </p:nvSpPr>
        <p:spPr>
          <a:xfrm>
            <a:off x="504825" y="1285874"/>
            <a:ext cx="3133725" cy="6667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RGB-D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封包
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JPEG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PNG16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frameId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5" name="sequence">
            <a:extLst>
              <a:ext uri="{FF2B5EF4-FFF2-40B4-BE49-F238E27FC236}">
                <a16:creationId xmlns:a16="http://schemas.microsoft.com/office/drawing/2014/main" id="{5C13787E-BFB1-0EBD-D808-CFA7EB90048A}"/>
              </a:ext>
            </a:extLst>
          </p:cNvPr>
          <p:cNvSpPr/>
          <p:nvPr/>
        </p:nvSpPr>
        <p:spPr>
          <a:xfrm>
            <a:off x="428625" y="2667000"/>
            <a:ext cx="3286125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24D07A-CB6F-A12D-D11D-6CF6DD326786}"/>
              </a:ext>
            </a:extLst>
          </p:cNvPr>
          <p:cNvSpPr txBox="1"/>
          <p:nvPr/>
        </p:nvSpPr>
        <p:spPr>
          <a:xfrm>
            <a:off x="504825" y="2714625"/>
            <a:ext cx="3133725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檢查封包、序號與時間
記錄跳號數</a:t>
            </a:r>
          </a:p>
        </p:txBody>
      </p:sp>
      <p:sp>
        <p:nvSpPr>
          <p:cNvPr id="17" name="time">
            <a:extLst>
              <a:ext uri="{FF2B5EF4-FFF2-40B4-BE49-F238E27FC236}">
                <a16:creationId xmlns:a16="http://schemas.microsoft.com/office/drawing/2014/main" id="{0B95C2DE-25E4-D760-A091-D166EAB8AE03}"/>
              </a:ext>
            </a:extLst>
          </p:cNvPr>
          <p:cNvSpPr/>
          <p:nvPr/>
        </p:nvSpPr>
        <p:spPr>
          <a:xfrm>
            <a:off x="4333875" y="2667000"/>
            <a:ext cx="3333750" cy="809625"/>
          </a:xfrm>
          <a:prstGeom prst="rect">
            <a:avLst/>
          </a:prstGeom>
          <a:solidFill>
            <a:srgbClr val="F1F5FC"/>
          </a:solidFill>
          <a:ln w="19050">
            <a:solidFill>
              <a:srgbClr val="245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3FC4FDA-B5AA-D68F-D3B9-992BD8D2FA46}"/>
              </a:ext>
            </a:extLst>
          </p:cNvPr>
          <p:cNvSpPr txBox="1"/>
          <p:nvPr/>
        </p:nvSpPr>
        <p:spPr>
          <a:xfrm>
            <a:off x="4410075" y="271462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彩色／深度擷取時間差
≤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20 ms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？</a:t>
            </a:r>
          </a:p>
        </p:txBody>
      </p:sp>
      <p:sp>
        <p:nvSpPr>
          <p:cNvPr id="19" name="bad">
            <a:extLst>
              <a:ext uri="{FF2B5EF4-FFF2-40B4-BE49-F238E27FC236}">
                <a16:creationId xmlns:a16="http://schemas.microsoft.com/office/drawing/2014/main" id="{218EEFDA-F885-07F7-6D6F-4577ED074942}"/>
              </a:ext>
            </a:extLst>
          </p:cNvPr>
          <p:cNvSpPr/>
          <p:nvPr/>
        </p:nvSpPr>
        <p:spPr>
          <a:xfrm>
            <a:off x="8382000" y="2667000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D1B0D7D-7E7A-ABA6-7DC1-D4599F6C4F26}"/>
              </a:ext>
            </a:extLst>
          </p:cNvPr>
          <p:cNvSpPr txBox="1"/>
          <p:nvPr/>
        </p:nvSpPr>
        <p:spPr>
          <a:xfrm>
            <a:off x="8458200" y="271462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不更新定位
保存異常狀態與可用資料</a:t>
            </a:r>
          </a:p>
        </p:txBody>
      </p:sp>
      <p:sp>
        <p:nvSpPr>
          <p:cNvPr id="21" name="pose">
            <a:extLst>
              <a:ext uri="{FF2B5EF4-FFF2-40B4-BE49-F238E27FC236}">
                <a16:creationId xmlns:a16="http://schemas.microsoft.com/office/drawing/2014/main" id="{D9915403-E880-2041-F70D-37F22667D71F}"/>
              </a:ext>
            </a:extLst>
          </p:cNvPr>
          <p:cNvSpPr/>
          <p:nvPr/>
        </p:nvSpPr>
        <p:spPr>
          <a:xfrm>
            <a:off x="4333875" y="1238250"/>
            <a:ext cx="33337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7463D54-EA5E-66F7-0FE1-72F98A6D954A}"/>
              </a:ext>
            </a:extLst>
          </p:cNvPr>
          <p:cNvSpPr txBox="1"/>
          <p:nvPr/>
        </p:nvSpPr>
        <p:spPr>
          <a:xfrm>
            <a:off x="4410075" y="1285874"/>
            <a:ext cx="3181350" cy="6667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PoseBuffer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依擷取時間取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
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精確對應或前後插值</a:t>
            </a:r>
          </a:p>
        </p:txBody>
      </p:sp>
      <p:sp>
        <p:nvSpPr>
          <p:cNvPr id="23" name="detect">
            <a:extLst>
              <a:ext uri="{FF2B5EF4-FFF2-40B4-BE49-F238E27FC236}">
                <a16:creationId xmlns:a16="http://schemas.microsoft.com/office/drawing/2014/main" id="{7CC7D069-D03C-1F4B-B9E4-CC8D6C034561}"/>
              </a:ext>
            </a:extLst>
          </p:cNvPr>
          <p:cNvSpPr/>
          <p:nvPr/>
        </p:nvSpPr>
        <p:spPr>
          <a:xfrm>
            <a:off x="4333875" y="4238625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09AEEB81-099E-368E-8FE2-6DA5843CBFB3}"/>
              </a:ext>
            </a:extLst>
          </p:cNvPr>
          <p:cNvSpPr txBox="1"/>
          <p:nvPr/>
        </p:nvSpPr>
        <p:spPr>
          <a:xfrm>
            <a:off x="4410075" y="4286250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彩色辨識＋同幀深度
計算相機三維座標</a:t>
            </a:r>
          </a:p>
        </p:txBody>
      </p:sp>
      <p:sp>
        <p:nvSpPr>
          <p:cNvPr id="25" name="world">
            <a:extLst>
              <a:ext uri="{FF2B5EF4-FFF2-40B4-BE49-F238E27FC236}">
                <a16:creationId xmlns:a16="http://schemas.microsoft.com/office/drawing/2014/main" id="{641E63FA-B633-C721-6C23-2F8641C2FB75}"/>
              </a:ext>
            </a:extLst>
          </p:cNvPr>
          <p:cNvSpPr/>
          <p:nvPr/>
        </p:nvSpPr>
        <p:spPr>
          <a:xfrm>
            <a:off x="8382000" y="4238625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B474EEC-5828-4768-5E8C-389A5B958533}"/>
              </a:ext>
            </a:extLst>
          </p:cNvPr>
          <p:cNvSpPr txBox="1"/>
          <p:nvPr/>
        </p:nvSpPr>
        <p:spPr>
          <a:xfrm>
            <a:off x="8458200" y="4286250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、深度與外參有效
才形成世界座標觀測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A4B257D-59D9-40AF-D989-B41C078FC963}"/>
              </a:ext>
            </a:extLst>
          </p:cNvPr>
          <p:cNvSpPr txBox="1"/>
          <p:nvPr/>
        </p:nvSpPr>
        <p:spPr>
          <a:xfrm>
            <a:off x="7858125" y="2743200"/>
            <a:ext cx="428625" cy="2667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50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否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ECF84AD-B7C2-971E-E4B1-E38694AE74AD}"/>
              </a:ext>
            </a:extLst>
          </p:cNvPr>
          <p:cNvSpPr txBox="1"/>
          <p:nvPr/>
        </p:nvSpPr>
        <p:spPr>
          <a:xfrm>
            <a:off x="6134100" y="3695700"/>
            <a:ext cx="428625" cy="2667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50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B2284BF-0A8E-0669-3620-2CFFD34F78A8}"/>
              </a:ext>
            </a:extLst>
          </p:cNvPr>
          <p:cNvSpPr txBox="1"/>
          <p:nvPr/>
        </p:nvSpPr>
        <p:spPr>
          <a:xfrm>
            <a:off x="428625" y="4190999"/>
            <a:ext cx="3286125" cy="9525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跳號：計數，不借用其他幀
重複／倒序：拒絕
缺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：不外插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F80A6D51-5BAA-4825-065D-1CA1C49A74B4}"/>
              </a:ext>
            </a:extLst>
          </p:cNvPr>
          <p:cNvSpPr txBox="1"/>
          <p:nvPr/>
        </p:nvSpPr>
        <p:spPr>
          <a:xfrm>
            <a:off x="428625" y="5638800"/>
            <a:ext cx="11287125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en-US" altLang="zh-TW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 </a:t>
            </a:r>
            <a:r>
              <a:rPr lang="zh-TW" altLang="en-US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插值：位置線性插值、四元數 </a:t>
            </a:r>
            <a:r>
              <a:rPr lang="en-US" altLang="zh-TW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SLERP</a:t>
            </a:r>
            <a:r>
              <a:rPr lang="zh-TW" altLang="en-US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，前後樣本間隔 ≤ </a:t>
            </a:r>
            <a:r>
              <a:rPr lang="en-US" altLang="zh-TW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200 ms</a:t>
            </a:r>
            <a:r>
              <a:rPr lang="zh-TW" altLang="en-US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
奈秒時間戳使用字串傳輸，並核對 </a:t>
            </a:r>
            <a:r>
              <a:rPr lang="en-US" altLang="zh-TW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sessionId</a:t>
            </a:r>
            <a:r>
              <a:rPr lang="zh-TW" altLang="en-US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clockId </a:t>
            </a:r>
            <a:r>
              <a:rPr lang="zh-TW" altLang="en-US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 </a:t>
            </a:r>
            <a:r>
              <a:rPr lang="en-US" altLang="zh-TW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calibrationId</a:t>
            </a:r>
            <a:r>
              <a:rPr lang="zh-TW" altLang="en-US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38A1A5F-FE33-4C95-5655-A4B2BC464A57}"/>
              </a:ext>
            </a:extLst>
          </p:cNvPr>
          <p:cNvSpPr txBox="1"/>
          <p:nvPr/>
        </p:nvSpPr>
        <p:spPr>
          <a:xfrm>
            <a:off x="11334750" y="6496050"/>
            <a:ext cx="428625" cy="2095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r"/>
            <a:r>
              <a:rPr lang="en-US" altLang="zh-TW" sz="1275">
                <a:solidFill>
                  <a:srgbClr val="66666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2</a:t>
            </a:r>
            <a:endParaRPr lang="zh-TW" altLang="en-US" sz="1275">
              <a:solidFill>
                <a:srgbClr val="66666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9442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58709F5-4DD9-DD9F-92EC-94994417AAF9}"/>
              </a:ext>
            </a:extLst>
          </p:cNvPr>
          <p:cNvSpPr txBox="1"/>
          <p:nvPr/>
        </p:nvSpPr>
        <p:spPr>
          <a:xfrm>
            <a:off x="428625" y="238125"/>
            <a:ext cx="11334750" cy="5238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en-US" altLang="zh-TW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 </a:t>
            </a:r>
            <a:r>
              <a:rPr lang="zh-TW" altLang="en-US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設備定位流程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020BECA-07F9-6D3F-6440-6E82E8CC20E2}"/>
              </a:ext>
            </a:extLst>
          </p:cNvPr>
          <p:cNvSpPr txBox="1"/>
          <p:nvPr/>
        </p:nvSpPr>
        <p:spPr>
          <a:xfrm>
            <a:off x="428625" y="771525"/>
            <a:ext cx="11334750" cy="304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en-US" altLang="zh-TW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UWB </a:t>
            </a:r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求位置與共同距離偏差，</a:t>
            </a:r>
            <a:r>
              <a:rPr lang="en-US" altLang="zh-TW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 </a:t>
            </a:r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管線提供設備姿態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54DFF85B-CE1F-C5EE-486E-4B0201FAD4B1}"/>
              </a:ext>
            </a:extLst>
          </p:cNvPr>
          <p:cNvCxnSpPr/>
          <p:nvPr/>
        </p:nvCxnSpPr>
        <p:spPr>
          <a:xfrm>
            <a:off x="2047875" y="1905000"/>
            <a:ext cx="0" cy="5715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272CEE64-36D2-FD61-0E84-9D39FAE383F9}"/>
              </a:ext>
            </a:extLst>
          </p:cNvPr>
          <p:cNvCxnSpPr/>
          <p:nvPr/>
        </p:nvCxnSpPr>
        <p:spPr>
          <a:xfrm>
            <a:off x="3667125" y="2876550"/>
            <a:ext cx="666750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1A59CD00-76E3-3FB2-E433-36EF71EE2B89}"/>
              </a:ext>
            </a:extLst>
          </p:cNvPr>
          <p:cNvCxnSpPr/>
          <p:nvPr/>
        </p:nvCxnSpPr>
        <p:spPr>
          <a:xfrm>
            <a:off x="10048875" y="1905000"/>
            <a:ext cx="0" cy="5715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83F6351B-7DA0-8F06-4066-F81187373D82}"/>
              </a:ext>
            </a:extLst>
          </p:cNvPr>
          <p:cNvCxnSpPr/>
          <p:nvPr/>
        </p:nvCxnSpPr>
        <p:spPr>
          <a:xfrm>
            <a:off x="6000750" y="3286125"/>
            <a:ext cx="0" cy="11430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F7118AE-74FF-090D-F990-3F9A4859A69B}"/>
              </a:ext>
            </a:extLst>
          </p:cNvPr>
          <p:cNvCxnSpPr/>
          <p:nvPr/>
        </p:nvCxnSpPr>
        <p:spPr>
          <a:xfrm>
            <a:off x="10048875" y="3286125"/>
            <a:ext cx="0" cy="152400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1E68B732-C89F-D4A3-A653-CA188C446123}"/>
              </a:ext>
            </a:extLst>
          </p:cNvPr>
          <p:cNvCxnSpPr/>
          <p:nvPr/>
        </p:nvCxnSpPr>
        <p:spPr>
          <a:xfrm flipH="1">
            <a:off x="7667625" y="4810125"/>
            <a:ext cx="2381250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wb">
            <a:extLst>
              <a:ext uri="{FF2B5EF4-FFF2-40B4-BE49-F238E27FC236}">
                <a16:creationId xmlns:a16="http://schemas.microsoft.com/office/drawing/2014/main" id="{CDA2E6D3-ACE6-6AB2-D823-C3A2924AF9D0}"/>
              </a:ext>
            </a:extLst>
          </p:cNvPr>
          <p:cNvSpPr/>
          <p:nvPr/>
        </p:nvSpPr>
        <p:spPr>
          <a:xfrm>
            <a:off x="428625" y="1190625"/>
            <a:ext cx="3238500" cy="71437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C957B7D-2A52-7BD7-E367-15DDC7D75330}"/>
              </a:ext>
            </a:extLst>
          </p:cNvPr>
          <p:cNvSpPr txBox="1"/>
          <p:nvPr/>
        </p:nvSpPr>
        <p:spPr>
          <a:xfrm>
            <a:off x="504825" y="1238250"/>
            <a:ext cx="3086100" cy="61912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8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站原始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UWB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距離
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MQTT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接收並保存</a:t>
            </a:r>
          </a:p>
        </p:txBody>
      </p:sp>
      <p:sp>
        <p:nvSpPr>
          <p:cNvPr id="12" name="check">
            <a:extLst>
              <a:ext uri="{FF2B5EF4-FFF2-40B4-BE49-F238E27FC236}">
                <a16:creationId xmlns:a16="http://schemas.microsoft.com/office/drawing/2014/main" id="{ED77FD12-90E3-C9BF-56A6-AB2FD6D7F3D9}"/>
              </a:ext>
            </a:extLst>
          </p:cNvPr>
          <p:cNvSpPr/>
          <p:nvPr/>
        </p:nvSpPr>
        <p:spPr>
          <a:xfrm>
            <a:off x="428625" y="2476500"/>
            <a:ext cx="323850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33B87ED-0AD3-F085-9B01-3473F700FE17}"/>
              </a:ext>
            </a:extLst>
          </p:cNvPr>
          <p:cNvSpPr txBox="1"/>
          <p:nvPr/>
        </p:nvSpPr>
        <p:spPr>
          <a:xfrm>
            <a:off x="504825" y="2524125"/>
            <a:ext cx="308610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去重、正值與有效站數
至少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5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站，幾何有效</a:t>
            </a:r>
          </a:p>
        </p:txBody>
      </p:sp>
      <p:sp>
        <p:nvSpPr>
          <p:cNvPr id="14" name="solve">
            <a:extLst>
              <a:ext uri="{FF2B5EF4-FFF2-40B4-BE49-F238E27FC236}">
                <a16:creationId xmlns:a16="http://schemas.microsoft.com/office/drawing/2014/main" id="{E80C10BB-5218-C6CC-2D6A-60F038494AA8}"/>
              </a:ext>
            </a:extLst>
          </p:cNvPr>
          <p:cNvSpPr/>
          <p:nvPr/>
        </p:nvSpPr>
        <p:spPr>
          <a:xfrm>
            <a:off x="4333875" y="2476500"/>
            <a:ext cx="3333750" cy="809625"/>
          </a:xfrm>
          <a:prstGeom prst="rect">
            <a:avLst/>
          </a:prstGeom>
          <a:solidFill>
            <a:srgbClr val="F1F5FC"/>
          </a:solidFill>
          <a:ln w="19050">
            <a:solidFill>
              <a:srgbClr val="245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739AEB2-61D2-28FB-7446-B19CCF3986C9}"/>
              </a:ext>
            </a:extLst>
          </p:cNvPr>
          <p:cNvSpPr txBox="1"/>
          <p:nvPr/>
        </p:nvSpPr>
        <p:spPr>
          <a:xfrm>
            <a:off x="4410075" y="252412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4D-GWO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求解
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x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y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z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、共同偏差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6" name="imu">
            <a:extLst>
              <a:ext uri="{FF2B5EF4-FFF2-40B4-BE49-F238E27FC236}">
                <a16:creationId xmlns:a16="http://schemas.microsoft.com/office/drawing/2014/main" id="{8F840EE6-30CD-BFA4-4EBA-2091B8F645AC}"/>
              </a:ext>
            </a:extLst>
          </p:cNvPr>
          <p:cNvSpPr/>
          <p:nvPr/>
        </p:nvSpPr>
        <p:spPr>
          <a:xfrm>
            <a:off x="8382000" y="1190625"/>
            <a:ext cx="3333750" cy="71437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CC94764-7BFC-73AE-2B96-030986107926}"/>
              </a:ext>
            </a:extLst>
          </p:cNvPr>
          <p:cNvSpPr txBox="1"/>
          <p:nvPr/>
        </p:nvSpPr>
        <p:spPr>
          <a:xfrm>
            <a:off x="8458200" y="1238250"/>
            <a:ext cx="3181350" cy="61912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角速度／姿態管線
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MQTT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接收並保存</a:t>
            </a:r>
          </a:p>
        </p:txBody>
      </p:sp>
      <p:sp>
        <p:nvSpPr>
          <p:cNvPr id="18" name="attitude">
            <a:extLst>
              <a:ext uri="{FF2B5EF4-FFF2-40B4-BE49-F238E27FC236}">
                <a16:creationId xmlns:a16="http://schemas.microsoft.com/office/drawing/2014/main" id="{2C2F4697-AD73-8BA8-1765-E05C7DF8BE03}"/>
              </a:ext>
            </a:extLst>
          </p:cNvPr>
          <p:cNvSpPr/>
          <p:nvPr/>
        </p:nvSpPr>
        <p:spPr>
          <a:xfrm>
            <a:off x="8382000" y="2476500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740C274-5FB1-4E41-2067-7601DA794A7E}"/>
              </a:ext>
            </a:extLst>
          </p:cNvPr>
          <p:cNvSpPr txBox="1"/>
          <p:nvPr/>
        </p:nvSpPr>
        <p:spPr>
          <a:xfrm>
            <a:off x="8458200" y="252412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四元數姿態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q
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沿用既有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處理</a:t>
            </a:r>
          </a:p>
        </p:txBody>
      </p:sp>
      <p:sp>
        <p:nvSpPr>
          <p:cNvPr id="20" name="pose">
            <a:extLst>
              <a:ext uri="{FF2B5EF4-FFF2-40B4-BE49-F238E27FC236}">
                <a16:creationId xmlns:a16="http://schemas.microsoft.com/office/drawing/2014/main" id="{CC6B1F76-F394-CEA9-38CE-6E067CF778EA}"/>
              </a:ext>
            </a:extLst>
          </p:cNvPr>
          <p:cNvSpPr/>
          <p:nvPr/>
        </p:nvSpPr>
        <p:spPr>
          <a:xfrm>
            <a:off x="4333875" y="4429125"/>
            <a:ext cx="333375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A627FDD-1C4A-389F-65DF-AE54E46F38E1}"/>
              </a:ext>
            </a:extLst>
          </p:cNvPr>
          <p:cNvSpPr txBox="1"/>
          <p:nvPr/>
        </p:nvSpPr>
        <p:spPr>
          <a:xfrm>
            <a:off x="4410075" y="4476749"/>
            <a:ext cx="3181350" cy="6667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設備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＝位置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＋姿態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q
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附時間戳與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診斷資料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C4403753-551C-600F-F7B1-DC36070B47A3}"/>
              </a:ext>
            </a:extLst>
          </p:cNvPr>
          <p:cNvSpPr txBox="1"/>
          <p:nvPr/>
        </p:nvSpPr>
        <p:spPr>
          <a:xfrm>
            <a:off x="428625" y="3905249"/>
            <a:ext cx="3238500" cy="15240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min </a:t>
            </a:r>
            <a:r>
              <a:rPr lang="el-GR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Σ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ᵢ (‖p − aᵢ‖ + b − dᵢ)²
p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：設備位置
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aᵢ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：基站位置
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dᵢ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：原始距離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A19BC0E3-728B-C09F-EA45-974C00BA628E}"/>
              </a:ext>
            </a:extLst>
          </p:cNvPr>
          <p:cNvSpPr txBox="1"/>
          <p:nvPr/>
        </p:nvSpPr>
        <p:spPr>
          <a:xfrm>
            <a:off x="8096250" y="5429250"/>
            <a:ext cx="3619500" cy="80962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6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資料不足或幾何退化
不產生新的有效位置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F25B6AE-194D-DDFE-8120-FFF72CEC2CE0}"/>
              </a:ext>
            </a:extLst>
          </p:cNvPr>
          <p:cNvSpPr txBox="1"/>
          <p:nvPr/>
        </p:nvSpPr>
        <p:spPr>
          <a:xfrm>
            <a:off x="428625" y="5857874"/>
            <a:ext cx="7334250" cy="4572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en-US" altLang="zh-TW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100 </a:t>
            </a:r>
            <a:r>
              <a:rPr lang="zh-TW" altLang="en-US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隻狼 </a:t>
            </a:r>
            <a:r>
              <a:rPr lang="en-US" altLang="zh-TW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× 100 </a:t>
            </a:r>
            <a:r>
              <a:rPr lang="zh-TW" altLang="en-US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次迭代，</a:t>
            </a:r>
            <a:r>
              <a:rPr lang="en-US" altLang="zh-TW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 </a:t>
            </a:r>
            <a:r>
              <a:rPr lang="zh-TW" altLang="en-US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預設 </a:t>
            </a:r>
            <a:r>
              <a:rPr lang="en-US" altLang="zh-TW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</a:t>
            </a:r>
            <a:r>
              <a:rPr lang="zh-TW" altLang="en-US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～</a:t>
            </a:r>
            <a:r>
              <a:rPr lang="en-US" altLang="zh-TW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0.6 m</a:t>
            </a:r>
            <a:r>
              <a:rPr lang="zh-TW" altLang="en-US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。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014AD00-B460-707D-A25A-79CF87D51D3C}"/>
              </a:ext>
            </a:extLst>
          </p:cNvPr>
          <p:cNvSpPr txBox="1"/>
          <p:nvPr/>
        </p:nvSpPr>
        <p:spPr>
          <a:xfrm>
            <a:off x="11334750" y="6496050"/>
            <a:ext cx="428625" cy="2095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r"/>
            <a:r>
              <a:rPr lang="en-US" altLang="zh-TW" sz="1275">
                <a:solidFill>
                  <a:srgbClr val="66666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</a:t>
            </a:r>
            <a:endParaRPr lang="zh-TW" altLang="en-US" sz="1275">
              <a:solidFill>
                <a:srgbClr val="66666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243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87475B7-5A12-1FE2-7F13-A3DCC8E060D8}"/>
              </a:ext>
            </a:extLst>
          </p:cNvPr>
          <p:cNvSpPr txBox="1"/>
          <p:nvPr/>
        </p:nvSpPr>
        <p:spPr>
          <a:xfrm>
            <a:off x="428625" y="238125"/>
            <a:ext cx="11334750" cy="5238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螺絲定位、關聯與多幀融合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02EF060-1085-B245-3A0F-5EDFAB6CD1EB}"/>
              </a:ext>
            </a:extLst>
          </p:cNvPr>
          <p:cNvSpPr txBox="1"/>
          <p:nvPr/>
        </p:nvSpPr>
        <p:spPr>
          <a:xfrm>
            <a:off x="428625" y="771525"/>
            <a:ext cx="11334750" cy="304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設備定位結果與同幀 </a:t>
            </a:r>
            <a:r>
              <a:rPr lang="en-US" altLang="zh-TW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RGB-D </a:t>
            </a:r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觀測共同決定螺絲世界位置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FCA7D69-FFD8-10B7-7931-A508A8ADCC32}"/>
              </a:ext>
            </a:extLst>
          </p:cNvPr>
          <p:cNvCxnSpPr/>
          <p:nvPr/>
        </p:nvCxnSpPr>
        <p:spPr>
          <a:xfrm>
            <a:off x="3667125" y="1628775"/>
            <a:ext cx="666750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4DC46433-8F7D-9B23-68D5-08F5B85470C6}"/>
              </a:ext>
            </a:extLst>
          </p:cNvPr>
          <p:cNvCxnSpPr/>
          <p:nvPr/>
        </p:nvCxnSpPr>
        <p:spPr>
          <a:xfrm>
            <a:off x="6000750" y="2019300"/>
            <a:ext cx="0" cy="83820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414DD0D2-43C0-652F-D790-DB7866BEC827}"/>
              </a:ext>
            </a:extLst>
          </p:cNvPr>
          <p:cNvCxnSpPr/>
          <p:nvPr/>
        </p:nvCxnSpPr>
        <p:spPr>
          <a:xfrm>
            <a:off x="10048875" y="2019300"/>
            <a:ext cx="0" cy="409575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D96BD4A4-1316-6B0C-81CF-8B3B3D1857A7}"/>
              </a:ext>
            </a:extLst>
          </p:cNvPr>
          <p:cNvCxnSpPr/>
          <p:nvPr/>
        </p:nvCxnSpPr>
        <p:spPr>
          <a:xfrm flipH="1">
            <a:off x="7048500" y="2428875"/>
            <a:ext cx="3000375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7FF42977-1246-6171-EAC1-028FFF472B57}"/>
              </a:ext>
            </a:extLst>
          </p:cNvPr>
          <p:cNvCxnSpPr/>
          <p:nvPr/>
        </p:nvCxnSpPr>
        <p:spPr>
          <a:xfrm>
            <a:off x="7048500" y="2428875"/>
            <a:ext cx="0" cy="428625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36BC24A-9E25-7E2E-D68E-AB0E94B7C5E3}"/>
              </a:ext>
            </a:extLst>
          </p:cNvPr>
          <p:cNvCxnSpPr/>
          <p:nvPr/>
        </p:nvCxnSpPr>
        <p:spPr>
          <a:xfrm>
            <a:off x="7667625" y="3257550"/>
            <a:ext cx="71437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307A64DF-1705-4686-099E-C54C5D1AB970}"/>
              </a:ext>
            </a:extLst>
          </p:cNvPr>
          <p:cNvCxnSpPr/>
          <p:nvPr/>
        </p:nvCxnSpPr>
        <p:spPr>
          <a:xfrm>
            <a:off x="6000750" y="3667125"/>
            <a:ext cx="0" cy="85725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F289864-6C14-715B-7A11-B0D624F61171}"/>
              </a:ext>
            </a:extLst>
          </p:cNvPr>
          <p:cNvCxnSpPr/>
          <p:nvPr/>
        </p:nvCxnSpPr>
        <p:spPr>
          <a:xfrm>
            <a:off x="7667625" y="4924425"/>
            <a:ext cx="71437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bs">
            <a:extLst>
              <a:ext uri="{FF2B5EF4-FFF2-40B4-BE49-F238E27FC236}">
                <a16:creationId xmlns:a16="http://schemas.microsoft.com/office/drawing/2014/main" id="{712E3F49-9977-F0F4-9ABB-B5A18AD98EE6}"/>
              </a:ext>
            </a:extLst>
          </p:cNvPr>
          <p:cNvSpPr/>
          <p:nvPr/>
        </p:nvSpPr>
        <p:spPr>
          <a:xfrm>
            <a:off x="428625" y="1238250"/>
            <a:ext cx="323850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1184DB7-4E7A-0A9B-7466-2E89274178EA}"/>
              </a:ext>
            </a:extLst>
          </p:cNvPr>
          <p:cNvSpPr txBox="1"/>
          <p:nvPr/>
        </p:nvSpPr>
        <p:spPr>
          <a:xfrm>
            <a:off x="504825" y="1285874"/>
            <a:ext cx="3086100" cy="685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bbox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中心＋同幀深度
內參反投影為相機座標</a:t>
            </a:r>
          </a:p>
        </p:txBody>
      </p:sp>
      <p:sp>
        <p:nvSpPr>
          <p:cNvPr id="14" name="world">
            <a:extLst>
              <a:ext uri="{FF2B5EF4-FFF2-40B4-BE49-F238E27FC236}">
                <a16:creationId xmlns:a16="http://schemas.microsoft.com/office/drawing/2014/main" id="{5884BD4A-82B1-7582-FD29-2577297E43C8}"/>
              </a:ext>
            </a:extLst>
          </p:cNvPr>
          <p:cNvSpPr/>
          <p:nvPr/>
        </p:nvSpPr>
        <p:spPr>
          <a:xfrm>
            <a:off x="4333875" y="1238250"/>
            <a:ext cx="3333750" cy="781050"/>
          </a:xfrm>
          <a:prstGeom prst="rect">
            <a:avLst/>
          </a:prstGeom>
          <a:solidFill>
            <a:srgbClr val="F1F5FC"/>
          </a:solidFill>
          <a:ln w="19050">
            <a:solidFill>
              <a:srgbClr val="245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A599438-7E66-2A11-EAD9-BD698EF2F41C}"/>
              </a:ext>
            </a:extLst>
          </p:cNvPr>
          <p:cNvSpPr txBox="1"/>
          <p:nvPr/>
        </p:nvSpPr>
        <p:spPr>
          <a:xfrm>
            <a:off x="4410075" y="1285874"/>
            <a:ext cx="3181350" cy="685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設備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＋相機外參
轉換為原始世界座標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F2FC4F98-2121-8494-3941-BA7D68271E44}"/>
              </a:ext>
            </a:extLst>
          </p:cNvPr>
          <p:cNvSpPr/>
          <p:nvPr/>
        </p:nvSpPr>
        <p:spPr>
          <a:xfrm>
            <a:off x="8382000" y="1238250"/>
            <a:ext cx="333375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46FC4B5-7843-0D1B-2CE4-2E88AAF0BEB3}"/>
              </a:ext>
            </a:extLst>
          </p:cNvPr>
          <p:cNvSpPr txBox="1"/>
          <p:nvPr/>
        </p:nvSpPr>
        <p:spPr>
          <a:xfrm>
            <a:off x="8458200" y="1285874"/>
            <a:ext cx="3181350" cy="685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既知螺絲地圖
位置與螺絲種類</a:t>
            </a:r>
          </a:p>
        </p:txBody>
      </p:sp>
      <p:sp>
        <p:nvSpPr>
          <p:cNvPr id="18" name="assoc">
            <a:extLst>
              <a:ext uri="{FF2B5EF4-FFF2-40B4-BE49-F238E27FC236}">
                <a16:creationId xmlns:a16="http://schemas.microsoft.com/office/drawing/2014/main" id="{13574470-9BBD-FF00-4044-51A87AD4D97C}"/>
              </a:ext>
            </a:extLst>
          </p:cNvPr>
          <p:cNvSpPr/>
          <p:nvPr/>
        </p:nvSpPr>
        <p:spPr>
          <a:xfrm>
            <a:off x="4333875" y="2857500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DB82D22F-1AEE-A5CE-7827-3B839371206F}"/>
              </a:ext>
            </a:extLst>
          </p:cNvPr>
          <p:cNvSpPr txBox="1"/>
          <p:nvPr/>
        </p:nvSpPr>
        <p:spPr>
          <a:xfrm>
            <a:off x="4410075" y="290512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Hungarian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一對一關聯
類別限制＋距離 ≤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0.8 m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0" name="reject">
            <a:extLst>
              <a:ext uri="{FF2B5EF4-FFF2-40B4-BE49-F238E27FC236}">
                <a16:creationId xmlns:a16="http://schemas.microsoft.com/office/drawing/2014/main" id="{C5C56C8D-069B-544D-99CA-CCA0211FDC61}"/>
              </a:ext>
            </a:extLst>
          </p:cNvPr>
          <p:cNvSpPr/>
          <p:nvPr/>
        </p:nvSpPr>
        <p:spPr>
          <a:xfrm>
            <a:off x="8382000" y="2857500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2F5748D3-9C12-7E8D-540A-F62CB9894995}"/>
              </a:ext>
            </a:extLst>
          </p:cNvPr>
          <p:cNvSpPr txBox="1"/>
          <p:nvPr/>
        </p:nvSpPr>
        <p:spPr>
          <a:xfrm>
            <a:off x="8458200" y="290512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未配對觀測
保留標記，不更新地圖</a:t>
            </a:r>
          </a:p>
        </p:txBody>
      </p:sp>
      <p:sp>
        <p:nvSpPr>
          <p:cNvPr id="22" name="fusion">
            <a:extLst>
              <a:ext uri="{FF2B5EF4-FFF2-40B4-BE49-F238E27FC236}">
                <a16:creationId xmlns:a16="http://schemas.microsoft.com/office/drawing/2014/main" id="{52117DFE-E39C-D726-7ACC-A0E07456E8FC}"/>
              </a:ext>
            </a:extLst>
          </p:cNvPr>
          <p:cNvSpPr/>
          <p:nvPr/>
        </p:nvSpPr>
        <p:spPr>
          <a:xfrm>
            <a:off x="4333875" y="4524375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EE998CB-C8F8-F133-7D64-9EAAE7810062}"/>
              </a:ext>
            </a:extLst>
          </p:cNvPr>
          <p:cNvSpPr txBox="1"/>
          <p:nvPr/>
        </p:nvSpPr>
        <p:spPr>
          <a:xfrm>
            <a:off x="4410075" y="4572000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每顆螺絲最近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60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筆觀測
多幀融合與不確定度</a:t>
            </a:r>
          </a:p>
        </p:txBody>
      </p:sp>
      <p:sp>
        <p:nvSpPr>
          <p:cNvPr id="24" name="out">
            <a:extLst>
              <a:ext uri="{FF2B5EF4-FFF2-40B4-BE49-F238E27FC236}">
                <a16:creationId xmlns:a16="http://schemas.microsoft.com/office/drawing/2014/main" id="{26D46B16-FE2D-46E1-7CFB-C14C0CDF16BD}"/>
              </a:ext>
            </a:extLst>
          </p:cNvPr>
          <p:cNvSpPr/>
          <p:nvPr/>
        </p:nvSpPr>
        <p:spPr>
          <a:xfrm>
            <a:off x="8382000" y="4524375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2B5F0FB3-524B-211B-841E-9869DF9B3F37}"/>
              </a:ext>
            </a:extLst>
          </p:cNvPr>
          <p:cNvSpPr txBox="1"/>
          <p:nvPr/>
        </p:nvSpPr>
        <p:spPr>
          <a:xfrm>
            <a:off x="8458200" y="4572000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保存融合位置與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bbox
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平台選擇融合結果顯示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DE729190-CE81-A6C7-859F-5CEFC8EACD11}"/>
              </a:ext>
            </a:extLst>
          </p:cNvPr>
          <p:cNvSpPr txBox="1"/>
          <p:nvPr/>
        </p:nvSpPr>
        <p:spPr>
          <a:xfrm>
            <a:off x="7762875" y="2914650"/>
            <a:ext cx="571500" cy="2667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50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失敗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82CF9D2D-580C-478F-54CC-09ABBE60B147}"/>
              </a:ext>
            </a:extLst>
          </p:cNvPr>
          <p:cNvSpPr txBox="1"/>
          <p:nvPr/>
        </p:nvSpPr>
        <p:spPr>
          <a:xfrm>
            <a:off x="6134100" y="3905250"/>
            <a:ext cx="571500" cy="2667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50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成功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880CEC97-1112-7EE0-540D-89E54CDA100C}"/>
              </a:ext>
            </a:extLst>
          </p:cNvPr>
          <p:cNvSpPr txBox="1"/>
          <p:nvPr/>
        </p:nvSpPr>
        <p:spPr>
          <a:xfrm>
            <a:off x="428625" y="2857499"/>
            <a:ext cx="3238500" cy="10477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en-US" altLang="zh-TW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pˢᵂ = Rᴮᵂ(Rᶜᴮpˢᶜ + tᶜᴮ) + pᴮᵂ</a:t>
            </a:r>
            <a:endParaRPr lang="zh-TW" altLang="en-US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D96B136-FE9D-EBE2-3500-6CD3F70328D2}"/>
              </a:ext>
            </a:extLst>
          </p:cNvPr>
          <p:cNvSpPr txBox="1"/>
          <p:nvPr/>
        </p:nvSpPr>
        <p:spPr>
          <a:xfrm>
            <a:off x="428625" y="4095750"/>
            <a:ext cx="3238500" cy="12858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9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平均法
</a:t>
            </a:r>
            <a:r>
              <a:rPr lang="en-US" altLang="zh-TW" sz="19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EKF</a:t>
            </a:r>
            <a:r>
              <a:rPr lang="zh-TW" altLang="en-US" sz="19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950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ES-EKF
RMV-FGO</a:t>
            </a:r>
            <a:endParaRPr lang="zh-TW" altLang="en-US" sz="1950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0CEAF54-F63A-CE74-AB42-679CCBF11349}"/>
              </a:ext>
            </a:extLst>
          </p:cNvPr>
          <p:cNvSpPr txBox="1"/>
          <p:nvPr/>
        </p:nvSpPr>
        <p:spPr>
          <a:xfrm>
            <a:off x="428625" y="5953124"/>
            <a:ext cx="11287125" cy="3810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原始世界座標是量測。地圖座標只供關聯與先驗，不能取代量測。</a:t>
            </a: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DFE0BA01-E0D7-F326-9122-4F14604585BE}"/>
              </a:ext>
            </a:extLst>
          </p:cNvPr>
          <p:cNvSpPr txBox="1"/>
          <p:nvPr/>
        </p:nvSpPr>
        <p:spPr>
          <a:xfrm>
            <a:off x="11334750" y="6496050"/>
            <a:ext cx="428625" cy="2095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r"/>
            <a:r>
              <a:rPr lang="en-US" altLang="zh-TW" sz="1275">
                <a:solidFill>
                  <a:srgbClr val="66666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</a:t>
            </a:r>
            <a:endParaRPr lang="zh-TW" altLang="en-US" sz="1275">
              <a:solidFill>
                <a:srgbClr val="66666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9258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08A0926-E027-BD13-5E11-D91A36D1C6FE}"/>
              </a:ext>
            </a:extLst>
          </p:cNvPr>
          <p:cNvSpPr txBox="1"/>
          <p:nvPr/>
        </p:nvSpPr>
        <p:spPr>
          <a:xfrm>
            <a:off x="428625" y="238125"/>
            <a:ext cx="11334750" cy="5238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29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資料保存、結束作業與歷史回放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91ECCC5-B77C-2F6F-F94E-FDAF8A3A032B}"/>
              </a:ext>
            </a:extLst>
          </p:cNvPr>
          <p:cNvSpPr txBox="1"/>
          <p:nvPr/>
        </p:nvSpPr>
        <p:spPr>
          <a:xfrm>
            <a:off x="428625" y="771525"/>
            <a:ext cx="11334750" cy="3048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650">
                <a:solidFill>
                  <a:srgbClr val="555555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原始資料可重算，歷史畫面按影像時間讀取資料庫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E31788F3-E39E-C92F-BFFE-D48340FC46E1}"/>
              </a:ext>
            </a:extLst>
          </p:cNvPr>
          <p:cNvCxnSpPr/>
          <p:nvPr/>
        </p:nvCxnSpPr>
        <p:spPr>
          <a:xfrm>
            <a:off x="7667625" y="1638300"/>
            <a:ext cx="71437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74F42AB-92EA-C91F-B3B1-69389C84B662}"/>
              </a:ext>
            </a:extLst>
          </p:cNvPr>
          <p:cNvCxnSpPr/>
          <p:nvPr/>
        </p:nvCxnSpPr>
        <p:spPr>
          <a:xfrm>
            <a:off x="2047875" y="2047875"/>
            <a:ext cx="0" cy="542925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A3FA1319-5E1D-C4BA-FEC4-F9CAE07A2B23}"/>
              </a:ext>
            </a:extLst>
          </p:cNvPr>
          <p:cNvCxnSpPr/>
          <p:nvPr/>
        </p:nvCxnSpPr>
        <p:spPr>
          <a:xfrm>
            <a:off x="2047875" y="2590800"/>
            <a:ext cx="3952875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25594211-6C5A-E49D-BC0F-4DF29672E97E}"/>
              </a:ext>
            </a:extLst>
          </p:cNvPr>
          <p:cNvCxnSpPr/>
          <p:nvPr/>
        </p:nvCxnSpPr>
        <p:spPr>
          <a:xfrm>
            <a:off x="6000750" y="2590800"/>
            <a:ext cx="0" cy="55245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40E3BF9-DAFA-5623-5EFA-C30523418BE3}"/>
              </a:ext>
            </a:extLst>
          </p:cNvPr>
          <p:cNvCxnSpPr/>
          <p:nvPr/>
        </p:nvCxnSpPr>
        <p:spPr>
          <a:xfrm>
            <a:off x="3667125" y="3571875"/>
            <a:ext cx="666750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03A35DCB-8702-B342-2410-99F0F6BB423E}"/>
              </a:ext>
            </a:extLst>
          </p:cNvPr>
          <p:cNvCxnSpPr/>
          <p:nvPr/>
        </p:nvCxnSpPr>
        <p:spPr>
          <a:xfrm>
            <a:off x="7667625" y="3571875"/>
            <a:ext cx="714375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B412F87-6A28-0F11-C4FF-686BA9A058E3}"/>
              </a:ext>
            </a:extLst>
          </p:cNvPr>
          <p:cNvCxnSpPr/>
          <p:nvPr/>
        </p:nvCxnSpPr>
        <p:spPr>
          <a:xfrm>
            <a:off x="10048875" y="4000500"/>
            <a:ext cx="0" cy="1285875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B793600C-9C40-A2BC-2626-3B076E472C35}"/>
              </a:ext>
            </a:extLst>
          </p:cNvPr>
          <p:cNvCxnSpPr/>
          <p:nvPr/>
        </p:nvCxnSpPr>
        <p:spPr>
          <a:xfrm>
            <a:off x="11715750" y="1638300"/>
            <a:ext cx="190500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6360703F-FFE2-653E-6E7C-5E5E70C076BE}"/>
              </a:ext>
            </a:extLst>
          </p:cNvPr>
          <p:cNvCxnSpPr/>
          <p:nvPr/>
        </p:nvCxnSpPr>
        <p:spPr>
          <a:xfrm>
            <a:off x="11906250" y="1638300"/>
            <a:ext cx="0" cy="400050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7894A14-2EE1-DCA5-12AD-6DFBE058D104}"/>
              </a:ext>
            </a:extLst>
          </p:cNvPr>
          <p:cNvCxnSpPr/>
          <p:nvPr/>
        </p:nvCxnSpPr>
        <p:spPr>
          <a:xfrm flipH="1">
            <a:off x="11715750" y="5638800"/>
            <a:ext cx="190500" cy="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18795F27-550A-5699-E313-DEA106490B0E}"/>
              </a:ext>
            </a:extLst>
          </p:cNvPr>
          <p:cNvCxnSpPr/>
          <p:nvPr/>
        </p:nvCxnSpPr>
        <p:spPr>
          <a:xfrm>
            <a:off x="6000750" y="2047875"/>
            <a:ext cx="1952625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F08BC9F4-0B1E-C10F-3F98-2626CF83C22B}"/>
              </a:ext>
            </a:extLst>
          </p:cNvPr>
          <p:cNvCxnSpPr/>
          <p:nvPr/>
        </p:nvCxnSpPr>
        <p:spPr>
          <a:xfrm>
            <a:off x="7953375" y="2047875"/>
            <a:ext cx="0" cy="276225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8D84C51-C487-A588-4ED0-92F659E5AA92}"/>
              </a:ext>
            </a:extLst>
          </p:cNvPr>
          <p:cNvCxnSpPr/>
          <p:nvPr/>
        </p:nvCxnSpPr>
        <p:spPr>
          <a:xfrm flipH="1">
            <a:off x="6000750" y="4810125"/>
            <a:ext cx="1952625" cy="0"/>
          </a:xfrm>
          <a:prstGeom prst="line">
            <a:avLst/>
          </a:prstGeom>
          <a:ln w="15875">
            <a:solidFill>
              <a:srgbClr val="3434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09735997-16F4-5176-2C14-877A8DA80A6C}"/>
              </a:ext>
            </a:extLst>
          </p:cNvPr>
          <p:cNvCxnSpPr/>
          <p:nvPr/>
        </p:nvCxnSpPr>
        <p:spPr>
          <a:xfrm>
            <a:off x="6000750" y="4810125"/>
            <a:ext cx="0" cy="476250"/>
          </a:xfrm>
          <a:prstGeom prst="line">
            <a:avLst/>
          </a:prstGeom>
          <a:ln w="15875">
            <a:solidFill>
              <a:srgbClr val="34343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aw">
            <a:extLst>
              <a:ext uri="{FF2B5EF4-FFF2-40B4-BE49-F238E27FC236}">
                <a16:creationId xmlns:a16="http://schemas.microsoft.com/office/drawing/2014/main" id="{3DB56E97-7A16-2E2D-72B4-D5A28A248A34}"/>
              </a:ext>
            </a:extLst>
          </p:cNvPr>
          <p:cNvSpPr/>
          <p:nvPr/>
        </p:nvSpPr>
        <p:spPr>
          <a:xfrm>
            <a:off x="428625" y="1238250"/>
            <a:ext cx="323850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FD97AE7A-82A1-F824-C7DC-0C3AB5B9917C}"/>
              </a:ext>
            </a:extLst>
          </p:cNvPr>
          <p:cNvSpPr txBox="1"/>
          <p:nvPr/>
        </p:nvSpPr>
        <p:spPr>
          <a:xfrm>
            <a:off x="504825" y="1285875"/>
            <a:ext cx="308610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原始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UWB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／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IMU
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持續存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RawSensorMeasurement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0" name="frame">
            <a:extLst>
              <a:ext uri="{FF2B5EF4-FFF2-40B4-BE49-F238E27FC236}">
                <a16:creationId xmlns:a16="http://schemas.microsoft.com/office/drawing/2014/main" id="{1CE791B0-CCFD-3257-0EB0-ACF7F4363AB0}"/>
              </a:ext>
            </a:extLst>
          </p:cNvPr>
          <p:cNvSpPr/>
          <p:nvPr/>
        </p:nvSpPr>
        <p:spPr>
          <a:xfrm>
            <a:off x="4333875" y="1238250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5B1E59E-18EE-AC21-C39C-DA0FFC59C923}"/>
              </a:ext>
            </a:extLst>
          </p:cNvPr>
          <p:cNvSpPr txBox="1"/>
          <p:nvPr/>
        </p:nvSpPr>
        <p:spPr>
          <a:xfrm>
            <a:off x="4410075" y="128587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逐幀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RGB-D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、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pose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與偵測
原始封包＋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sidecar journal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2" name="commit">
            <a:extLst>
              <a:ext uri="{FF2B5EF4-FFF2-40B4-BE49-F238E27FC236}">
                <a16:creationId xmlns:a16="http://schemas.microsoft.com/office/drawing/2014/main" id="{F61EBE35-0589-1AFC-4AD5-935BA99CDFF1}"/>
              </a:ext>
            </a:extLst>
          </p:cNvPr>
          <p:cNvSpPr/>
          <p:nvPr/>
        </p:nvSpPr>
        <p:spPr>
          <a:xfrm>
            <a:off x="8382000" y="1238250"/>
            <a:ext cx="3333750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B3B10A0-1A78-2378-43CF-E9E609291E2D}"/>
              </a:ext>
            </a:extLst>
          </p:cNvPr>
          <p:cNvSpPr txBox="1"/>
          <p:nvPr/>
        </p:nvSpPr>
        <p:spPr>
          <a:xfrm>
            <a:off x="8458200" y="1285875"/>
            <a:ext cx="3181350" cy="714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MongoDB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：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RgbdFrame
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提交成功才回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persisted ACK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4" name="end">
            <a:extLst>
              <a:ext uri="{FF2B5EF4-FFF2-40B4-BE49-F238E27FC236}">
                <a16:creationId xmlns:a16="http://schemas.microsoft.com/office/drawing/2014/main" id="{7FC7DA3D-1490-0666-3CFB-073D8CDF497A}"/>
              </a:ext>
            </a:extLst>
          </p:cNvPr>
          <p:cNvSpPr/>
          <p:nvPr/>
        </p:nvSpPr>
        <p:spPr>
          <a:xfrm>
            <a:off x="428625" y="3143250"/>
            <a:ext cx="3238500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3BA5930-46D5-D156-B504-C2C446561DA2}"/>
              </a:ext>
            </a:extLst>
          </p:cNvPr>
          <p:cNvSpPr txBox="1"/>
          <p:nvPr/>
        </p:nvSpPr>
        <p:spPr>
          <a:xfrm>
            <a:off x="504825" y="3190874"/>
            <a:ext cx="3086100" cy="7620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結束訊號／斷訊判定
後端寫入作業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endTime</a:t>
            </a:r>
            <a:endParaRPr lang="zh-TW" altLang="en-US" sz="1725">
              <a:solidFill>
                <a:srgbClr val="111111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6" name="replay">
            <a:extLst>
              <a:ext uri="{FF2B5EF4-FFF2-40B4-BE49-F238E27FC236}">
                <a16:creationId xmlns:a16="http://schemas.microsoft.com/office/drawing/2014/main" id="{C5E5BFE1-9225-DCE1-F821-C021CBDB23E3}"/>
              </a:ext>
            </a:extLst>
          </p:cNvPr>
          <p:cNvSpPr/>
          <p:nvPr/>
        </p:nvSpPr>
        <p:spPr>
          <a:xfrm>
            <a:off x="4333875" y="3143250"/>
            <a:ext cx="3333750" cy="857250"/>
          </a:xfrm>
          <a:prstGeom prst="rect">
            <a:avLst/>
          </a:prstGeom>
          <a:solidFill>
            <a:srgbClr val="F1F5FC"/>
          </a:solidFill>
          <a:ln w="19050">
            <a:solidFill>
              <a:srgbClr val="2457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96FFCC6-E47E-0B99-CF0F-DD35A28CCADC}"/>
              </a:ext>
            </a:extLst>
          </p:cNvPr>
          <p:cNvSpPr txBox="1"/>
          <p:nvPr/>
        </p:nvSpPr>
        <p:spPr>
          <a:xfrm>
            <a:off x="4410075" y="3190874"/>
            <a:ext cx="3181350" cy="7620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Worker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重播原始量測
分別計算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4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種設備路徑</a:t>
            </a:r>
          </a:p>
        </p:txBody>
      </p:sp>
      <p:sp>
        <p:nvSpPr>
          <p:cNvPr id="28" name="telemetry">
            <a:extLst>
              <a:ext uri="{FF2B5EF4-FFF2-40B4-BE49-F238E27FC236}">
                <a16:creationId xmlns:a16="http://schemas.microsoft.com/office/drawing/2014/main" id="{FB7B1C90-AB59-E758-021A-68C73A23BA57}"/>
              </a:ext>
            </a:extLst>
          </p:cNvPr>
          <p:cNvSpPr/>
          <p:nvPr/>
        </p:nvSpPr>
        <p:spPr>
          <a:xfrm>
            <a:off x="8382000" y="3143250"/>
            <a:ext cx="3333750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6D9707CD-FB8E-E80D-AF30-2A9A822CB9B5}"/>
              </a:ext>
            </a:extLst>
          </p:cNvPr>
          <p:cNvSpPr txBox="1"/>
          <p:nvPr/>
        </p:nvSpPr>
        <p:spPr>
          <a:xfrm>
            <a:off x="8458200" y="3190874"/>
            <a:ext cx="3181350" cy="76200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OperatorTelemetry
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按演算法分開保存</a:t>
            </a:r>
          </a:p>
        </p:txBody>
      </p:sp>
      <p:sp>
        <p:nvSpPr>
          <p:cNvPr id="30" name="history">
            <a:extLst>
              <a:ext uri="{FF2B5EF4-FFF2-40B4-BE49-F238E27FC236}">
                <a16:creationId xmlns:a16="http://schemas.microsoft.com/office/drawing/2014/main" id="{25E15269-51BF-7C34-C952-E12B414C7CF2}"/>
              </a:ext>
            </a:extLst>
          </p:cNvPr>
          <p:cNvSpPr/>
          <p:nvPr/>
        </p:nvSpPr>
        <p:spPr>
          <a:xfrm>
            <a:off x="8382000" y="5286375"/>
            <a:ext cx="3333750" cy="71437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4A3CD36-E89F-B7BC-575B-6ECC626930EF}"/>
              </a:ext>
            </a:extLst>
          </p:cNvPr>
          <p:cNvSpPr txBox="1"/>
          <p:nvPr/>
        </p:nvSpPr>
        <p:spPr>
          <a:xfrm>
            <a:off x="8458200" y="5334000"/>
            <a:ext cx="3181350" cy="61912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歷史讀取與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3D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路徑
依影片時間同步回放</a:t>
            </a:r>
          </a:p>
        </p:txBody>
      </p:sp>
      <p:sp>
        <p:nvSpPr>
          <p:cNvPr id="32" name="live">
            <a:extLst>
              <a:ext uri="{FF2B5EF4-FFF2-40B4-BE49-F238E27FC236}">
                <a16:creationId xmlns:a16="http://schemas.microsoft.com/office/drawing/2014/main" id="{B1BB8EF1-4C91-3503-F7A8-E6F2FCABEF7C}"/>
              </a:ext>
            </a:extLst>
          </p:cNvPr>
          <p:cNvSpPr/>
          <p:nvPr/>
        </p:nvSpPr>
        <p:spPr>
          <a:xfrm>
            <a:off x="4333875" y="5286375"/>
            <a:ext cx="3333750" cy="714375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0BD221D-FD4F-90DF-D430-50485FF7E5E7}"/>
              </a:ext>
            </a:extLst>
          </p:cNvPr>
          <p:cNvSpPr txBox="1"/>
          <p:nvPr/>
        </p:nvSpPr>
        <p:spPr>
          <a:xfrm>
            <a:off x="4410075" y="5334000"/>
            <a:ext cx="3181350" cy="61912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ctr"/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即時畫面與 </a:t>
            </a:r>
            <a:r>
              <a:rPr lang="en-US" altLang="zh-TW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3D </a:t>
            </a:r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資料
暫停只凍結前端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952915C-073A-5497-7E12-82D4279D4B1A}"/>
              </a:ext>
            </a:extLst>
          </p:cNvPr>
          <p:cNvSpPr txBox="1"/>
          <p:nvPr/>
        </p:nvSpPr>
        <p:spPr>
          <a:xfrm>
            <a:off x="428625" y="4667250"/>
            <a:ext cx="3238500" cy="1476375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r>
              <a:rPr lang="zh-TW" altLang="en-US" sz="1725">
                <a:solidFill>
                  <a:srgbClr val="111111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無螺絲偵測仍保存設備資料
歷史暫停：保持同幀
即時恢復：取得最新狀態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B2C15BD-E5D3-ECDC-B343-1D3EFC3CC38A}"/>
              </a:ext>
            </a:extLst>
          </p:cNvPr>
          <p:cNvSpPr txBox="1"/>
          <p:nvPr/>
        </p:nvSpPr>
        <p:spPr>
          <a:xfrm>
            <a:off x="11334750" y="6496050"/>
            <a:ext cx="428625" cy="209550"/>
          </a:xfrm>
          <a:prstGeom prst="rect">
            <a:avLst/>
          </a:prstGeom>
          <a:noFill/>
        </p:spPr>
        <p:txBody>
          <a:bodyPr vert="horz" wrap="square" lIns="19050" tIns="19050" rIns="19050" bIns="19050" rtlCol="0" anchor="ctr">
            <a:noAutofit/>
          </a:bodyPr>
          <a:lstStyle/>
          <a:p>
            <a:pPr algn="r"/>
            <a:r>
              <a:rPr lang="en-US" altLang="zh-TW" sz="1275">
                <a:solidFill>
                  <a:srgbClr val="666666"/>
                </a:solidFill>
                <a:latin typeface="Times New Roman" panose="02020603050405020304" pitchFamily="18" charset="0"/>
                <a:ea typeface="標楷體" panose="03000509000000000000" pitchFamily="65" charset="-120"/>
              </a:rPr>
              <a:t>5</a:t>
            </a:r>
            <a:endParaRPr lang="zh-TW" altLang="en-US" sz="1275">
              <a:solidFill>
                <a:srgbClr val="666666"/>
              </a:solidFill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2195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2351</Words>
  <Application>Microsoft Office PowerPoint</Application>
  <PresentationFormat>自訂</PresentationFormat>
  <Paragraphs>76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子強 鄭</dc:creator>
  <cp:lastModifiedBy>子強 鄭</cp:lastModifiedBy>
  <cp:revision>1</cp:revision>
  <dcterms:created xsi:type="dcterms:W3CDTF">2026-10-19T20:07:06Z</dcterms:created>
  <dcterms:modified xsi:type="dcterms:W3CDTF">2026-10-19T20:07:06Z</dcterms:modified>
</cp:coreProperties>
</file>